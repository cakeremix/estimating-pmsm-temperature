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10287000" cx="18288000"/>
  <p:notesSz cx="6858000" cy="9144000"/>
  <p:embeddedFontLst>
    <p:embeddedFont>
      <p:font typeface="Rubik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34D0EB-95F8-4599-88B6-B760490FD926}">
  <a:tblStyle styleId="{8934D0EB-95F8-4599-88B6-B760490FD9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ubik-bold.fntdata"/><Relationship Id="rId25" Type="http://schemas.openxmlformats.org/officeDocument/2006/relationships/font" Target="fonts/Rubik-regular.fntdata"/><Relationship Id="rId28" Type="http://schemas.openxmlformats.org/officeDocument/2006/relationships/font" Target="fonts/Rubik-boldItalic.fntdata"/><Relationship Id="rId27" Type="http://schemas.openxmlformats.org/officeDocument/2006/relationships/font" Target="fonts/Rubik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232bb7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8232bb7e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99c90275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99c90275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daa9d60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daa9d60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421bde87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c421bde87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dad9464c2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dad9464c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c421bde87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dc421bde87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dad9464c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dad9464c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c421bde8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c421bde87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dad9464c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dad9464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dcd253f6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ddcd253f6a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dad9464c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ddad9464c2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kaggle.com/wkirgsn/electric-motor-temperature" TargetMode="External"/><Relationship Id="rId4" Type="http://schemas.openxmlformats.org/officeDocument/2006/relationships/hyperlink" Target="https://github.com/wkirgsn/deep-pms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ieee-dataport.org/documents/bldc-motor-temperatur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kaggle.com/wkirgsn/electric-motor-temperature" TargetMode="External"/><Relationship Id="rId4" Type="http://schemas.openxmlformats.org/officeDocument/2006/relationships/hyperlink" Target="https://github.com/wkirgsn/thermal-n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6CE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5"/>
          <p:cNvGrpSpPr/>
          <p:nvPr/>
        </p:nvGrpSpPr>
        <p:grpSpPr>
          <a:xfrm rot="10800000">
            <a:off x="-12835623" y="-9814935"/>
            <a:ext cx="25581674" cy="26174213"/>
            <a:chOff x="0" y="0"/>
            <a:chExt cx="34108898" cy="34898951"/>
          </a:xfrm>
        </p:grpSpPr>
        <p:sp>
          <p:nvSpPr>
            <p:cNvPr id="160" name="Google Shape;160;p25"/>
            <p:cNvSpPr/>
            <p:nvPr/>
          </p:nvSpPr>
          <p:spPr>
            <a:xfrm>
              <a:off x="2153886" y="0"/>
              <a:ext cx="31955012" cy="34898951"/>
            </a:xfrm>
            <a:prstGeom prst="rect">
              <a:avLst/>
            </a:pr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5"/>
            <p:cNvSpPr/>
            <p:nvPr/>
          </p:nvSpPr>
          <p:spPr>
            <a:xfrm>
              <a:off x="0" y="96235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0" y="13000533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0" y="4397668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0" y="17301966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0" y="25904831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0" y="8699101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0" y="21603399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5"/>
            <p:cNvSpPr/>
            <p:nvPr/>
          </p:nvSpPr>
          <p:spPr>
            <a:xfrm>
              <a:off x="0" y="30206264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DEF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5"/>
          <p:cNvSpPr txBox="1"/>
          <p:nvPr/>
        </p:nvSpPr>
        <p:spPr>
          <a:xfrm>
            <a:off x="0" y="2146475"/>
            <a:ext cx="10493700" cy="25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84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Optimisation </a:t>
            </a:r>
            <a:endParaRPr b="1" sz="10684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1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In predicting Motor </a:t>
            </a:r>
            <a:r>
              <a:rPr b="1" lang="en-US" sz="48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Temperatures</a:t>
            </a:r>
            <a:endParaRPr b="1" sz="48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9854025" y="1201900"/>
            <a:ext cx="8572500" cy="8229600"/>
          </a:xfrm>
          <a:custGeom>
            <a:rect b="b" l="l" r="r" t="t"/>
            <a:pathLst>
              <a:path extrusionOk="0" h="8229600" w="8572500">
                <a:moveTo>
                  <a:pt x="0" y="0"/>
                </a:moveTo>
                <a:lnTo>
                  <a:pt x="8572500" y="0"/>
                </a:lnTo>
                <a:lnTo>
                  <a:pt x="85725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5"/>
          <p:cNvSpPr txBox="1"/>
          <p:nvPr/>
        </p:nvSpPr>
        <p:spPr>
          <a:xfrm>
            <a:off x="1851900" y="5884700"/>
            <a:ext cx="5331600" cy="4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Omar hani 13007515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Mohamed Walid 13006513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Hassan Yousef 13006567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Abdelhamid ElSharnouby 13006294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Mohannad Ghazal13006931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Mohamed Hamdy 13005467</a:t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851900" y="5269100"/>
            <a:ext cx="183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Presented by:</a:t>
            </a:r>
            <a:endParaRPr sz="3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1619976" y="7506959"/>
            <a:ext cx="24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3107425" y="2319937"/>
            <a:ext cx="12066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what our presentation would be about</a:t>
            </a:r>
            <a:endParaRPr/>
          </a:p>
        </p:txBody>
      </p:sp>
      <p:grpSp>
        <p:nvGrpSpPr>
          <p:cNvPr id="179" name="Google Shape;179;p26"/>
          <p:cNvGrpSpPr/>
          <p:nvPr/>
        </p:nvGrpSpPr>
        <p:grpSpPr>
          <a:xfrm>
            <a:off x="1372338" y="5380574"/>
            <a:ext cx="2976620" cy="1267039"/>
            <a:chOff x="0" y="-95250"/>
            <a:chExt cx="862701" cy="367220"/>
          </a:xfrm>
        </p:grpSpPr>
        <p:sp>
          <p:nvSpPr>
            <p:cNvPr id="180" name="Google Shape;180;p26"/>
            <p:cNvSpPr/>
            <p:nvPr/>
          </p:nvSpPr>
          <p:spPr>
            <a:xfrm>
              <a:off x="0" y="0"/>
              <a:ext cx="862701" cy="271970"/>
            </a:xfrm>
            <a:custGeom>
              <a:rect b="b" l="l" r="r" t="t"/>
              <a:pathLst>
                <a:path extrusionOk="0" h="271970" w="862701">
                  <a:moveTo>
                    <a:pt x="39014" y="0"/>
                  </a:moveTo>
                  <a:lnTo>
                    <a:pt x="823687" y="0"/>
                  </a:lnTo>
                  <a:cubicBezTo>
                    <a:pt x="845234" y="0"/>
                    <a:pt x="862701" y="17467"/>
                    <a:pt x="862701" y="39014"/>
                  </a:cubicBezTo>
                  <a:lnTo>
                    <a:pt x="862701" y="232957"/>
                  </a:lnTo>
                  <a:cubicBezTo>
                    <a:pt x="862701" y="254503"/>
                    <a:pt x="845234" y="271970"/>
                    <a:pt x="823687" y="271970"/>
                  </a:cubicBezTo>
                  <a:lnTo>
                    <a:pt x="39014" y="271970"/>
                  </a:lnTo>
                  <a:cubicBezTo>
                    <a:pt x="17467" y="271970"/>
                    <a:pt x="0" y="254503"/>
                    <a:pt x="0" y="232957"/>
                  </a:cubicBezTo>
                  <a:lnTo>
                    <a:pt x="0" y="39014"/>
                  </a:lnTo>
                  <a:cubicBezTo>
                    <a:pt x="0" y="17467"/>
                    <a:pt x="17467" y="0"/>
                    <a:pt x="39014" y="0"/>
                  </a:cubicBezTo>
                  <a:close/>
                </a:path>
              </a:pathLst>
            </a:custGeom>
            <a:solidFill>
              <a:srgbClr val="E1A1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6"/>
            <p:cNvSpPr txBox="1"/>
            <p:nvPr/>
          </p:nvSpPr>
          <p:spPr>
            <a:xfrm>
              <a:off x="0" y="-95250"/>
              <a:ext cx="862701" cy="367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Introduction</a:t>
              </a:r>
              <a:endParaRPr/>
            </a:p>
          </p:txBody>
        </p:sp>
      </p:grpSp>
      <p:grpSp>
        <p:nvGrpSpPr>
          <p:cNvPr id="182" name="Google Shape;182;p26"/>
          <p:cNvGrpSpPr/>
          <p:nvPr/>
        </p:nvGrpSpPr>
        <p:grpSpPr>
          <a:xfrm>
            <a:off x="4509088" y="5380574"/>
            <a:ext cx="2976620" cy="1267039"/>
            <a:chOff x="0" y="-95250"/>
            <a:chExt cx="862701" cy="367220"/>
          </a:xfrm>
        </p:grpSpPr>
        <p:sp>
          <p:nvSpPr>
            <p:cNvPr id="183" name="Google Shape;183;p26"/>
            <p:cNvSpPr/>
            <p:nvPr/>
          </p:nvSpPr>
          <p:spPr>
            <a:xfrm>
              <a:off x="0" y="0"/>
              <a:ext cx="862701" cy="271970"/>
            </a:xfrm>
            <a:custGeom>
              <a:rect b="b" l="l" r="r" t="t"/>
              <a:pathLst>
                <a:path extrusionOk="0" h="271970" w="862701">
                  <a:moveTo>
                    <a:pt x="39014" y="0"/>
                  </a:moveTo>
                  <a:lnTo>
                    <a:pt x="823687" y="0"/>
                  </a:lnTo>
                  <a:cubicBezTo>
                    <a:pt x="845234" y="0"/>
                    <a:pt x="862701" y="17467"/>
                    <a:pt x="862701" y="39014"/>
                  </a:cubicBezTo>
                  <a:lnTo>
                    <a:pt x="862701" y="232957"/>
                  </a:lnTo>
                  <a:cubicBezTo>
                    <a:pt x="862701" y="254503"/>
                    <a:pt x="845234" y="271970"/>
                    <a:pt x="823687" y="271970"/>
                  </a:cubicBezTo>
                  <a:lnTo>
                    <a:pt x="39014" y="271970"/>
                  </a:lnTo>
                  <a:cubicBezTo>
                    <a:pt x="17467" y="271970"/>
                    <a:pt x="0" y="254503"/>
                    <a:pt x="0" y="232957"/>
                  </a:cubicBezTo>
                  <a:lnTo>
                    <a:pt x="0" y="39014"/>
                  </a:lnTo>
                  <a:cubicBezTo>
                    <a:pt x="0" y="17467"/>
                    <a:pt x="17467" y="0"/>
                    <a:pt x="39014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6"/>
            <p:cNvSpPr txBox="1"/>
            <p:nvPr/>
          </p:nvSpPr>
          <p:spPr>
            <a:xfrm>
              <a:off x="0" y="-95250"/>
              <a:ext cx="862701" cy="367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Paper 1</a:t>
              </a:r>
              <a:endParaRPr/>
            </a:p>
          </p:txBody>
        </p:sp>
      </p:grpSp>
      <p:grpSp>
        <p:nvGrpSpPr>
          <p:cNvPr id="185" name="Google Shape;185;p26"/>
          <p:cNvGrpSpPr/>
          <p:nvPr/>
        </p:nvGrpSpPr>
        <p:grpSpPr>
          <a:xfrm>
            <a:off x="7650166" y="5380574"/>
            <a:ext cx="2976620" cy="1267039"/>
            <a:chOff x="0" y="-95250"/>
            <a:chExt cx="862701" cy="367220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0"/>
              <a:ext cx="862701" cy="271970"/>
            </a:xfrm>
            <a:custGeom>
              <a:rect b="b" l="l" r="r" t="t"/>
              <a:pathLst>
                <a:path extrusionOk="0" h="271970" w="862701">
                  <a:moveTo>
                    <a:pt x="39014" y="0"/>
                  </a:moveTo>
                  <a:lnTo>
                    <a:pt x="823687" y="0"/>
                  </a:lnTo>
                  <a:cubicBezTo>
                    <a:pt x="845234" y="0"/>
                    <a:pt x="862701" y="17467"/>
                    <a:pt x="862701" y="39014"/>
                  </a:cubicBezTo>
                  <a:lnTo>
                    <a:pt x="862701" y="232957"/>
                  </a:lnTo>
                  <a:cubicBezTo>
                    <a:pt x="862701" y="254503"/>
                    <a:pt x="845234" y="271970"/>
                    <a:pt x="823687" y="271970"/>
                  </a:cubicBezTo>
                  <a:lnTo>
                    <a:pt x="39014" y="271970"/>
                  </a:lnTo>
                  <a:cubicBezTo>
                    <a:pt x="17467" y="271970"/>
                    <a:pt x="0" y="254503"/>
                    <a:pt x="0" y="232957"/>
                  </a:cubicBezTo>
                  <a:lnTo>
                    <a:pt x="0" y="39014"/>
                  </a:lnTo>
                  <a:cubicBezTo>
                    <a:pt x="0" y="17467"/>
                    <a:pt x="17467" y="0"/>
                    <a:pt x="39014" y="0"/>
                  </a:cubicBez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 txBox="1"/>
            <p:nvPr/>
          </p:nvSpPr>
          <p:spPr>
            <a:xfrm>
              <a:off x="0" y="-95250"/>
              <a:ext cx="862701" cy="367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Paper 2</a:t>
              </a:r>
              <a:endParaRPr b="1" sz="3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88" name="Google Shape;188;p26"/>
          <p:cNvGrpSpPr/>
          <p:nvPr/>
        </p:nvGrpSpPr>
        <p:grpSpPr>
          <a:xfrm>
            <a:off x="10791244" y="5380574"/>
            <a:ext cx="2976620" cy="1267039"/>
            <a:chOff x="0" y="-95250"/>
            <a:chExt cx="862701" cy="367220"/>
          </a:xfrm>
        </p:grpSpPr>
        <p:sp>
          <p:nvSpPr>
            <p:cNvPr id="189" name="Google Shape;189;p26"/>
            <p:cNvSpPr/>
            <p:nvPr/>
          </p:nvSpPr>
          <p:spPr>
            <a:xfrm>
              <a:off x="0" y="0"/>
              <a:ext cx="862701" cy="271970"/>
            </a:xfrm>
            <a:custGeom>
              <a:rect b="b" l="l" r="r" t="t"/>
              <a:pathLst>
                <a:path extrusionOk="0" h="271970" w="862701">
                  <a:moveTo>
                    <a:pt x="39014" y="0"/>
                  </a:moveTo>
                  <a:lnTo>
                    <a:pt x="823687" y="0"/>
                  </a:lnTo>
                  <a:cubicBezTo>
                    <a:pt x="845234" y="0"/>
                    <a:pt x="862701" y="17467"/>
                    <a:pt x="862701" y="39014"/>
                  </a:cubicBezTo>
                  <a:lnTo>
                    <a:pt x="862701" y="232957"/>
                  </a:lnTo>
                  <a:cubicBezTo>
                    <a:pt x="862701" y="254503"/>
                    <a:pt x="845234" y="271970"/>
                    <a:pt x="823687" y="271970"/>
                  </a:cubicBezTo>
                  <a:lnTo>
                    <a:pt x="39014" y="271970"/>
                  </a:lnTo>
                  <a:cubicBezTo>
                    <a:pt x="17467" y="271970"/>
                    <a:pt x="0" y="254503"/>
                    <a:pt x="0" y="232957"/>
                  </a:cubicBezTo>
                  <a:lnTo>
                    <a:pt x="0" y="39014"/>
                  </a:lnTo>
                  <a:cubicBezTo>
                    <a:pt x="0" y="17467"/>
                    <a:pt x="17467" y="0"/>
                    <a:pt x="39014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6"/>
            <p:cNvSpPr txBox="1"/>
            <p:nvPr/>
          </p:nvSpPr>
          <p:spPr>
            <a:xfrm>
              <a:off x="0" y="-95250"/>
              <a:ext cx="862701" cy="367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Paper 3</a:t>
              </a:r>
              <a:endParaRPr b="1" sz="3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91" name="Google Shape;191;p26"/>
          <p:cNvGrpSpPr/>
          <p:nvPr/>
        </p:nvGrpSpPr>
        <p:grpSpPr>
          <a:xfrm>
            <a:off x="13932322" y="5380574"/>
            <a:ext cx="2976620" cy="1267039"/>
            <a:chOff x="0" y="-95250"/>
            <a:chExt cx="862701" cy="367220"/>
          </a:xfrm>
        </p:grpSpPr>
        <p:sp>
          <p:nvSpPr>
            <p:cNvPr id="192" name="Google Shape;192;p26"/>
            <p:cNvSpPr/>
            <p:nvPr/>
          </p:nvSpPr>
          <p:spPr>
            <a:xfrm>
              <a:off x="0" y="0"/>
              <a:ext cx="862701" cy="271970"/>
            </a:xfrm>
            <a:custGeom>
              <a:rect b="b" l="l" r="r" t="t"/>
              <a:pathLst>
                <a:path extrusionOk="0" h="271970" w="862701">
                  <a:moveTo>
                    <a:pt x="39014" y="0"/>
                  </a:moveTo>
                  <a:lnTo>
                    <a:pt x="823687" y="0"/>
                  </a:lnTo>
                  <a:cubicBezTo>
                    <a:pt x="845234" y="0"/>
                    <a:pt x="862701" y="17467"/>
                    <a:pt x="862701" y="39014"/>
                  </a:cubicBezTo>
                  <a:lnTo>
                    <a:pt x="862701" y="232957"/>
                  </a:lnTo>
                  <a:cubicBezTo>
                    <a:pt x="862701" y="254503"/>
                    <a:pt x="845234" y="271970"/>
                    <a:pt x="823687" y="271970"/>
                  </a:cubicBezTo>
                  <a:lnTo>
                    <a:pt x="39014" y="271970"/>
                  </a:lnTo>
                  <a:cubicBezTo>
                    <a:pt x="17467" y="271970"/>
                    <a:pt x="0" y="254503"/>
                    <a:pt x="0" y="232957"/>
                  </a:cubicBezTo>
                  <a:lnTo>
                    <a:pt x="0" y="39014"/>
                  </a:lnTo>
                  <a:cubicBezTo>
                    <a:pt x="0" y="17467"/>
                    <a:pt x="17467" y="0"/>
                    <a:pt x="39014" y="0"/>
                  </a:cubicBezTo>
                  <a:close/>
                </a:path>
              </a:pathLst>
            </a:custGeom>
            <a:solidFill>
              <a:srgbClr val="0AC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6"/>
            <p:cNvSpPr txBox="1"/>
            <p:nvPr/>
          </p:nvSpPr>
          <p:spPr>
            <a:xfrm>
              <a:off x="0" y="-95250"/>
              <a:ext cx="862701" cy="367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Paper 4</a:t>
              </a:r>
              <a:endParaRPr b="1" sz="3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cxnSp>
        <p:nvCxnSpPr>
          <p:cNvPr id="194" name="Google Shape;194;p26"/>
          <p:cNvCxnSpPr/>
          <p:nvPr/>
        </p:nvCxnSpPr>
        <p:spPr>
          <a:xfrm>
            <a:off x="2401182" y="7077286"/>
            <a:ext cx="907049" cy="47625"/>
          </a:xfrm>
          <a:prstGeom prst="straightConnector1">
            <a:avLst/>
          </a:prstGeom>
          <a:noFill/>
          <a:ln cap="flat" cmpd="sng" w="47625">
            <a:solidFill>
              <a:srgbClr val="E1A10B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5" name="Google Shape;195;p26"/>
          <p:cNvSpPr txBox="1"/>
          <p:nvPr/>
        </p:nvSpPr>
        <p:spPr>
          <a:xfrm>
            <a:off x="7909687" y="7506959"/>
            <a:ext cx="24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8684990" y="7077286"/>
            <a:ext cx="906971" cy="47625"/>
          </a:xfrm>
          <a:prstGeom prst="straightConnector1">
            <a:avLst/>
          </a:prstGeom>
          <a:noFill/>
          <a:ln cap="flat" cmpd="sng" w="47625">
            <a:solidFill>
              <a:srgbClr val="37C9E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7" name="Google Shape;197;p26"/>
          <p:cNvSpPr txBox="1"/>
          <p:nvPr/>
        </p:nvSpPr>
        <p:spPr>
          <a:xfrm>
            <a:off x="14191843" y="7508424"/>
            <a:ext cx="24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6"/>
          <p:cNvCxnSpPr/>
          <p:nvPr/>
        </p:nvCxnSpPr>
        <p:spPr>
          <a:xfrm>
            <a:off x="14966414" y="7078018"/>
            <a:ext cx="908436" cy="47625"/>
          </a:xfrm>
          <a:prstGeom prst="straightConnector1">
            <a:avLst/>
          </a:prstGeom>
          <a:noFill/>
          <a:ln cap="flat" cmpd="sng" w="47625">
            <a:solidFill>
              <a:srgbClr val="0ACBA9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9" name="Google Shape;199;p26"/>
          <p:cNvSpPr txBox="1"/>
          <p:nvPr/>
        </p:nvSpPr>
        <p:spPr>
          <a:xfrm>
            <a:off x="4572001" y="4221950"/>
            <a:ext cx="297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6"/>
          <p:cNvCxnSpPr/>
          <p:nvPr/>
        </p:nvCxnSpPr>
        <p:spPr>
          <a:xfrm>
            <a:off x="5635598" y="5321248"/>
            <a:ext cx="728336" cy="47625"/>
          </a:xfrm>
          <a:prstGeom prst="straightConnector1">
            <a:avLst/>
          </a:prstGeom>
          <a:noFill/>
          <a:ln cap="flat" cmpd="sng" w="47625">
            <a:solidFill>
              <a:srgbClr val="EF78B4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01" name="Google Shape;201;p26"/>
          <p:cNvSpPr txBox="1"/>
          <p:nvPr/>
        </p:nvSpPr>
        <p:spPr>
          <a:xfrm>
            <a:off x="11050765" y="4221962"/>
            <a:ext cx="24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6"/>
          <p:cNvCxnSpPr/>
          <p:nvPr/>
        </p:nvCxnSpPr>
        <p:spPr>
          <a:xfrm>
            <a:off x="11904542" y="5310396"/>
            <a:ext cx="750024" cy="47625"/>
          </a:xfrm>
          <a:prstGeom prst="straightConnector1">
            <a:avLst/>
          </a:prstGeom>
          <a:noFill/>
          <a:ln cap="flat" cmpd="sng" w="47625">
            <a:solidFill>
              <a:srgbClr val="7C6CE3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03" name="Google Shape;203;p26"/>
          <p:cNvSpPr txBox="1"/>
          <p:nvPr/>
        </p:nvSpPr>
        <p:spPr>
          <a:xfrm>
            <a:off x="291503" y="1085850"/>
            <a:ext cx="1770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contents</a:t>
            </a:r>
            <a:endParaRPr/>
          </a:p>
        </p:txBody>
      </p:sp>
      <p:grpSp>
        <p:nvGrpSpPr>
          <p:cNvPr id="204" name="Google Shape;204;p26"/>
          <p:cNvGrpSpPr/>
          <p:nvPr/>
        </p:nvGrpSpPr>
        <p:grpSpPr>
          <a:xfrm>
            <a:off x="-836483" y="9230826"/>
            <a:ext cx="20144813" cy="2066322"/>
            <a:chOff x="0" y="0"/>
            <a:chExt cx="26859751" cy="2755096"/>
          </a:xfrm>
        </p:grpSpPr>
        <p:sp>
          <p:nvSpPr>
            <p:cNvPr id="205" name="Google Shape;205;p26"/>
            <p:cNvSpPr/>
            <p:nvPr/>
          </p:nvSpPr>
          <p:spPr>
            <a:xfrm rot="5421497">
              <a:off x="5376337" y="41947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 rot="5421497">
              <a:off x="16111852" y="41947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 rot="5421497">
              <a:off x="21479407" y="41947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 rot="5421497">
              <a:off x="2692358" y="25162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 rot="5421497">
              <a:off x="13427872" y="25162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 rot="5421497">
              <a:off x="8060317" y="58731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 rot="5421497">
              <a:off x="18795831" y="58731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 rot="5421497">
              <a:off x="24163386" y="58731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 rot="5421497">
              <a:off x="8378" y="8378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 rot="5421497">
              <a:off x="10743893" y="8378"/>
              <a:ext cx="2687987" cy="2687987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6CE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5610969" y="1524009"/>
            <a:ext cx="118287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4">
                <a:solidFill>
                  <a:srgbClr val="DDEFF0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grpSp>
        <p:nvGrpSpPr>
          <p:cNvPr id="220" name="Google Shape;220;p27"/>
          <p:cNvGrpSpPr/>
          <p:nvPr/>
        </p:nvGrpSpPr>
        <p:grpSpPr>
          <a:xfrm>
            <a:off x="12794170" y="7993099"/>
            <a:ext cx="4645361" cy="855617"/>
            <a:chOff x="0" y="0"/>
            <a:chExt cx="6193814" cy="1140823"/>
          </a:xfrm>
        </p:grpSpPr>
        <p:sp>
          <p:nvSpPr>
            <p:cNvPr id="221" name="Google Shape;221;p27"/>
            <p:cNvSpPr/>
            <p:nvPr/>
          </p:nvSpPr>
          <p:spPr>
            <a:xfrm>
              <a:off x="0" y="0"/>
              <a:ext cx="6193814" cy="1140823"/>
            </a:xfrm>
            <a:custGeom>
              <a:rect b="b" l="l" r="r" t="t"/>
              <a:pathLst>
                <a:path extrusionOk="0" h="660400" w="3585476">
                  <a:moveTo>
                    <a:pt x="34610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61017" y="0"/>
                  </a:lnTo>
                  <a:cubicBezTo>
                    <a:pt x="3529597" y="0"/>
                    <a:pt x="3585476" y="55880"/>
                    <a:pt x="3585476" y="124460"/>
                  </a:cubicBezTo>
                  <a:lnTo>
                    <a:pt x="3585476" y="535940"/>
                  </a:lnTo>
                  <a:cubicBezTo>
                    <a:pt x="3585476" y="604520"/>
                    <a:pt x="3529597" y="660400"/>
                    <a:pt x="3461017" y="660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 txBox="1"/>
            <p:nvPr/>
          </p:nvSpPr>
          <p:spPr>
            <a:xfrm>
              <a:off x="356375" y="125586"/>
              <a:ext cx="54810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18">
                  <a:solidFill>
                    <a:srgbClr val="2B1B94"/>
                  </a:solidFill>
                  <a:latin typeface="Bebas Neue"/>
                  <a:ea typeface="Bebas Neue"/>
                  <a:cs typeface="Bebas Neue"/>
                  <a:sym typeface="Bebas Neue"/>
                </a:rPr>
                <a:t>Improvement!</a:t>
              </a:r>
              <a:endParaRPr/>
            </a:p>
          </p:txBody>
        </p:sp>
      </p:grpSp>
      <p:sp>
        <p:nvSpPr>
          <p:cNvPr id="223" name="Google Shape;223;p27"/>
          <p:cNvSpPr/>
          <p:nvPr/>
        </p:nvSpPr>
        <p:spPr>
          <a:xfrm>
            <a:off x="1028700" y="2949336"/>
            <a:ext cx="7277954" cy="6795789"/>
          </a:xfrm>
          <a:custGeom>
            <a:rect b="b" l="l" r="r" t="t"/>
            <a:pathLst>
              <a:path extrusionOk="0" h="6795789" w="7277954">
                <a:moveTo>
                  <a:pt x="0" y="0"/>
                </a:moveTo>
                <a:lnTo>
                  <a:pt x="7277954" y="0"/>
                </a:lnTo>
                <a:lnTo>
                  <a:pt x="7277954" y="6795789"/>
                </a:lnTo>
                <a:lnTo>
                  <a:pt x="0" y="6795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7"/>
          <p:cNvSpPr txBox="1"/>
          <p:nvPr/>
        </p:nvSpPr>
        <p:spPr>
          <a:xfrm>
            <a:off x="8678375" y="3619500"/>
            <a:ext cx="8655300" cy="498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What is optimisation?</a:t>
            </a: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: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         improving model performance by finding best parameters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Used in: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Training ML models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Hyperparameter tuning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Reducing error (loss function)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6CE3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/>
        </p:nvSpPr>
        <p:spPr>
          <a:xfrm>
            <a:off x="8306649" y="344725"/>
            <a:ext cx="9132900" cy="2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4">
                <a:solidFill>
                  <a:srgbClr val="DDEFF0"/>
                </a:solidFill>
                <a:latin typeface="Bebas Neue"/>
                <a:ea typeface="Bebas Neue"/>
                <a:cs typeface="Bebas Neue"/>
                <a:sym typeface="Bebas Neue"/>
              </a:rPr>
              <a:t>Why Optimisation?</a:t>
            </a:r>
            <a:br>
              <a:rPr b="1" lang="en-US" sz="10884">
                <a:solidFill>
                  <a:srgbClr val="DDEFF0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b="1" lang="en-US" sz="4800">
                <a:solidFill>
                  <a:srgbClr val="DDEFF0"/>
                </a:solidFill>
                <a:latin typeface="Bebas Neue"/>
                <a:ea typeface="Bebas Neue"/>
                <a:cs typeface="Bebas Neue"/>
                <a:sym typeface="Bebas Neue"/>
              </a:rPr>
              <a:t>(In Permanent magnet synchronous motors)</a:t>
            </a:r>
            <a:endParaRPr b="1" sz="4800">
              <a:solidFill>
                <a:srgbClr val="DDEFF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230" name="Google Shape;230;p28"/>
          <p:cNvGrpSpPr/>
          <p:nvPr/>
        </p:nvGrpSpPr>
        <p:grpSpPr>
          <a:xfrm>
            <a:off x="12794170" y="7993099"/>
            <a:ext cx="4645432" cy="855631"/>
            <a:chOff x="0" y="0"/>
            <a:chExt cx="6193910" cy="1140841"/>
          </a:xfrm>
        </p:grpSpPr>
        <p:sp>
          <p:nvSpPr>
            <p:cNvPr id="231" name="Google Shape;231;p28"/>
            <p:cNvSpPr/>
            <p:nvPr/>
          </p:nvSpPr>
          <p:spPr>
            <a:xfrm>
              <a:off x="0" y="0"/>
              <a:ext cx="6193910" cy="1140841"/>
            </a:xfrm>
            <a:custGeom>
              <a:rect b="b" l="l" r="r" t="t"/>
              <a:pathLst>
                <a:path extrusionOk="0" h="660400" w="3585476">
                  <a:moveTo>
                    <a:pt x="34610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61017" y="0"/>
                  </a:lnTo>
                  <a:cubicBezTo>
                    <a:pt x="3529597" y="0"/>
                    <a:pt x="3585476" y="55880"/>
                    <a:pt x="3585476" y="124460"/>
                  </a:cubicBezTo>
                  <a:lnTo>
                    <a:pt x="3585476" y="535940"/>
                  </a:lnTo>
                  <a:cubicBezTo>
                    <a:pt x="3585476" y="604520"/>
                    <a:pt x="3529597" y="660400"/>
                    <a:pt x="3461017" y="660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8"/>
            <p:cNvSpPr txBox="1"/>
            <p:nvPr/>
          </p:nvSpPr>
          <p:spPr>
            <a:xfrm>
              <a:off x="7" y="125601"/>
              <a:ext cx="6193800" cy="74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18">
                  <a:solidFill>
                    <a:srgbClr val="2B1B94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Easier than ThermoDynamics!</a:t>
              </a:r>
              <a:endParaRPr sz="1100"/>
            </a:p>
          </p:txBody>
        </p:sp>
      </p:grpSp>
      <p:sp>
        <p:nvSpPr>
          <p:cNvPr id="233" name="Google Shape;233;p28"/>
          <p:cNvSpPr/>
          <p:nvPr/>
        </p:nvSpPr>
        <p:spPr>
          <a:xfrm>
            <a:off x="1028700" y="3034011"/>
            <a:ext cx="7277954" cy="6795789"/>
          </a:xfrm>
          <a:custGeom>
            <a:rect b="b" l="l" r="r" t="t"/>
            <a:pathLst>
              <a:path extrusionOk="0" h="6795789" w="7277954">
                <a:moveTo>
                  <a:pt x="0" y="0"/>
                </a:moveTo>
                <a:lnTo>
                  <a:pt x="7277954" y="0"/>
                </a:lnTo>
                <a:lnTo>
                  <a:pt x="7277954" y="6795789"/>
                </a:lnTo>
                <a:lnTo>
                  <a:pt x="0" y="6795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8"/>
          <p:cNvSpPr txBox="1"/>
          <p:nvPr/>
        </p:nvSpPr>
        <p:spPr>
          <a:xfrm>
            <a:off x="8306650" y="3199200"/>
            <a:ext cx="9132900" cy="4055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the use of Permanent Magnet synchronous motors (PMSM) technology is growing in various industry applications.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However, PMSMs are susceptible to high temperatures especially the Magnets and windings.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E472"/>
                </a:solidFill>
                <a:latin typeface="Bebas Neue"/>
                <a:ea typeface="Bebas Neue"/>
                <a:cs typeface="Bebas Neue"/>
                <a:sym typeface="Bebas Neue"/>
              </a:rPr>
              <a:t>Machine learning optimisation helps breakdown the complex  relation between the motor’s parameters into neural networks!</a:t>
            </a:r>
            <a:endParaRPr sz="3000">
              <a:solidFill>
                <a:srgbClr val="FFE47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/>
        </p:nvSpPr>
        <p:spPr>
          <a:xfrm>
            <a:off x="1183995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Techniques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1183995" y="70986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Contribution</a:t>
            </a:r>
            <a:endParaRPr/>
          </a:p>
        </p:txBody>
      </p:sp>
      <p:cxnSp>
        <p:nvCxnSpPr>
          <p:cNvPr id="241" name="Google Shape;241;p29"/>
          <p:cNvCxnSpPr/>
          <p:nvPr/>
        </p:nvCxnSpPr>
        <p:spPr>
          <a:xfrm>
            <a:off x="1183995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9"/>
          <p:cNvCxnSpPr/>
          <p:nvPr/>
        </p:nvCxnSpPr>
        <p:spPr>
          <a:xfrm>
            <a:off x="1183995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9"/>
          <p:cNvSpPr txBox="1"/>
          <p:nvPr/>
        </p:nvSpPr>
        <p:spPr>
          <a:xfrm>
            <a:off x="13127772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 Idea vs Limitations</a:t>
            </a:r>
            <a:endParaRPr/>
          </a:p>
        </p:txBody>
      </p:sp>
      <p:cxnSp>
        <p:nvCxnSpPr>
          <p:cNvPr id="244" name="Google Shape;244;p29"/>
          <p:cNvCxnSpPr/>
          <p:nvPr/>
        </p:nvCxnSpPr>
        <p:spPr>
          <a:xfrm>
            <a:off x="9799299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9"/>
          <p:cNvSpPr txBox="1"/>
          <p:nvPr/>
        </p:nvSpPr>
        <p:spPr>
          <a:xfrm>
            <a:off x="13127772" y="7098640"/>
            <a:ext cx="3976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18"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246" name="Google Shape;246;p29"/>
          <p:cNvCxnSpPr/>
          <p:nvPr/>
        </p:nvCxnSpPr>
        <p:spPr>
          <a:xfrm>
            <a:off x="10675624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29"/>
          <p:cNvSpPr/>
          <p:nvPr/>
        </p:nvSpPr>
        <p:spPr>
          <a:xfrm>
            <a:off x="4903408" y="2138550"/>
            <a:ext cx="8281358" cy="8229600"/>
          </a:xfrm>
          <a:custGeom>
            <a:rect b="b" l="l" r="r" t="t"/>
            <a:pathLst>
              <a:path extrusionOk="0" h="8229600" w="8281358">
                <a:moveTo>
                  <a:pt x="0" y="0"/>
                </a:moveTo>
                <a:lnTo>
                  <a:pt x="8281358" y="0"/>
                </a:lnTo>
                <a:lnTo>
                  <a:pt x="82813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8" name="Google Shape;248;p29"/>
          <p:cNvGrpSpPr/>
          <p:nvPr/>
        </p:nvGrpSpPr>
        <p:grpSpPr>
          <a:xfrm>
            <a:off x="1183995" y="1631290"/>
            <a:ext cx="1409720" cy="1409720"/>
            <a:chOff x="0" y="0"/>
            <a:chExt cx="812800" cy="812800"/>
          </a:xfrm>
        </p:grpSpPr>
        <p:sp>
          <p:nvSpPr>
            <p:cNvPr id="249" name="Google Shape;249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9"/>
          <p:cNvGrpSpPr/>
          <p:nvPr/>
        </p:nvGrpSpPr>
        <p:grpSpPr>
          <a:xfrm>
            <a:off x="15694305" y="1631290"/>
            <a:ext cx="1409720" cy="1409720"/>
            <a:chOff x="0" y="0"/>
            <a:chExt cx="812800" cy="812800"/>
          </a:xfrm>
        </p:grpSpPr>
        <p:sp>
          <p:nvSpPr>
            <p:cNvPr id="252" name="Google Shape;252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1183995" y="5548504"/>
            <a:ext cx="1409720" cy="1409720"/>
            <a:chOff x="0" y="0"/>
            <a:chExt cx="812800" cy="812800"/>
          </a:xfrm>
        </p:grpSpPr>
        <p:sp>
          <p:nvSpPr>
            <p:cNvPr id="255" name="Google Shape;255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29"/>
          <p:cNvGrpSpPr/>
          <p:nvPr/>
        </p:nvGrpSpPr>
        <p:grpSpPr>
          <a:xfrm>
            <a:off x="15694305" y="5548504"/>
            <a:ext cx="1409720" cy="1409720"/>
            <a:chOff x="0" y="0"/>
            <a:chExt cx="812800" cy="812800"/>
          </a:xfrm>
        </p:grpSpPr>
        <p:sp>
          <p:nvSpPr>
            <p:cNvPr id="258" name="Google Shape;258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9"/>
          <p:cNvSpPr/>
          <p:nvPr/>
        </p:nvSpPr>
        <p:spPr>
          <a:xfrm>
            <a:off x="1383815" y="1831110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9"/>
          <p:cNvSpPr/>
          <p:nvPr/>
        </p:nvSpPr>
        <p:spPr>
          <a:xfrm>
            <a:off x="16039396" y="1796992"/>
            <a:ext cx="719517" cy="1078296"/>
          </a:xfrm>
          <a:custGeom>
            <a:rect b="b" l="l" r="r" t="t"/>
            <a:pathLst>
              <a:path extrusionOk="0" h="1078296" w="719517">
                <a:moveTo>
                  <a:pt x="0" y="0"/>
                </a:moveTo>
                <a:lnTo>
                  <a:pt x="719518" y="0"/>
                </a:lnTo>
                <a:lnTo>
                  <a:pt x="719518" y="1078296"/>
                </a:lnTo>
                <a:lnTo>
                  <a:pt x="0" y="107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9"/>
          <p:cNvSpPr/>
          <p:nvPr/>
        </p:nvSpPr>
        <p:spPr>
          <a:xfrm>
            <a:off x="138381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9"/>
          <p:cNvSpPr/>
          <p:nvPr/>
        </p:nvSpPr>
        <p:spPr>
          <a:xfrm>
            <a:off x="1589412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29"/>
          <p:cNvSpPr txBox="1"/>
          <p:nvPr/>
        </p:nvSpPr>
        <p:spPr>
          <a:xfrm>
            <a:off x="1183995" y="4020215"/>
            <a:ext cx="3777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Long Short-Term Memory (LSTM) and Gated Recurrent Units (GRU); Bayesian optimisation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1183995" y="7944515"/>
            <a:ext cx="3777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Introduction of deep learning into thermal monitoring tasks.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No need for physical modeling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12452900" y="4020225"/>
            <a:ext cx="46512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Idea: Combine 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Deep Learning + Optimisation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. Limitations: 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Requires large datasets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Hard to interpret (black-box)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13326848" y="7944515"/>
            <a:ext cx="3777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MSE below 4K^2</a:t>
            </a:r>
            <a:br>
              <a:rPr lang="en-US" sz="1700">
                <a:latin typeface="Rubik"/>
                <a:ea typeface="Rubik"/>
                <a:cs typeface="Rubik"/>
                <a:sym typeface="Rubik"/>
              </a:rPr>
            </a:br>
            <a:r>
              <a:rPr lang="en-US" sz="1700">
                <a:latin typeface="Rubik"/>
                <a:ea typeface="Rubik"/>
                <a:cs typeface="Rubik"/>
                <a:sym typeface="Rubik"/>
              </a:rPr>
              <a:t>Maximum absolute deviation &lt; 9K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-125" y="18625"/>
            <a:ext cx="18288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Estimating electric motor temperatures with deep residual machine learning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Kirchgässner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al, 2021)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/>
        </p:nvSpPr>
        <p:spPr>
          <a:xfrm>
            <a:off x="386250" y="0"/>
            <a:ext cx="1751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Estimating electric motor temperatures with deep residual machine learning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(Kirchgässner et al, 2021)</a:t>
            </a:r>
            <a:endParaRPr/>
          </a:p>
        </p:txBody>
      </p:sp>
      <p:sp>
        <p:nvSpPr>
          <p:cNvPr id="274" name="Google Shape;274;p30"/>
          <p:cNvSpPr txBox="1"/>
          <p:nvPr/>
        </p:nvSpPr>
        <p:spPr>
          <a:xfrm>
            <a:off x="254250" y="1477500"/>
            <a:ext cx="17779500" cy="81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Dataset? </a:t>
            </a: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140 (now expanded to 185) hours of multivariate measurements sampled at 2 Hz from a 52 kW PMSM</a:t>
            </a:r>
            <a:endParaRPr sz="3018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Bebas Neue"/>
                <a:ea typeface="Bebas Neue"/>
                <a:cs typeface="Bebas Neue"/>
                <a:sym typeface="Bebas Neue"/>
                <a:hlinkClick r:id="rId3"/>
              </a:rPr>
              <a:t>www.kaggle.com/wkirgsn/electric-motor-temperature</a:t>
            </a: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, </a:t>
            </a:r>
            <a:r>
              <a:rPr lang="en-US" sz="3000" u="sng">
                <a:solidFill>
                  <a:schemeClr val="hlink"/>
                </a:solidFill>
                <a:latin typeface="Bebas Neue"/>
                <a:ea typeface="Bebas Neue"/>
                <a:cs typeface="Bebas Neue"/>
                <a:sym typeface="Bebas Neue"/>
                <a:hlinkClick r:id="rId4"/>
              </a:rPr>
              <a:t>https://github.com/wkirgsn/deep-pmsm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Features?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108 features including ambient temperature, coolant temperature, motor speed, DC link voltage, and current/voltage components expanded via exponentially weighted moving averages (EWMA) and standard deviations (EWMS).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Target?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Stator teeth, winding, yoke, and rotor permanent magnet temperatures.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Ml model?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Deep Residual Recurrent Neural Networks (RNNs), Temporal Convolutional Networks (TCNs).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metrics?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Mean Squared Error (MSE) and Maximum Absolute Deviation (L ∞-norm)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/>
        </p:nvSpPr>
        <p:spPr>
          <a:xfrm>
            <a:off x="1183995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Techniques</a:t>
            </a:r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1183995" y="70986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Contribution</a:t>
            </a:r>
            <a:endParaRPr/>
          </a:p>
        </p:txBody>
      </p:sp>
      <p:cxnSp>
        <p:nvCxnSpPr>
          <p:cNvPr id="281" name="Google Shape;281;p31"/>
          <p:cNvCxnSpPr/>
          <p:nvPr/>
        </p:nvCxnSpPr>
        <p:spPr>
          <a:xfrm>
            <a:off x="1183995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1"/>
          <p:cNvCxnSpPr/>
          <p:nvPr/>
        </p:nvCxnSpPr>
        <p:spPr>
          <a:xfrm>
            <a:off x="1183995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31"/>
          <p:cNvSpPr txBox="1"/>
          <p:nvPr/>
        </p:nvSpPr>
        <p:spPr>
          <a:xfrm>
            <a:off x="13127772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 Idea vs Limitations</a:t>
            </a:r>
            <a:endParaRPr/>
          </a:p>
        </p:txBody>
      </p:sp>
      <p:cxnSp>
        <p:nvCxnSpPr>
          <p:cNvPr id="284" name="Google Shape;284;p31"/>
          <p:cNvCxnSpPr/>
          <p:nvPr/>
        </p:nvCxnSpPr>
        <p:spPr>
          <a:xfrm>
            <a:off x="9799299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31"/>
          <p:cNvSpPr txBox="1"/>
          <p:nvPr/>
        </p:nvSpPr>
        <p:spPr>
          <a:xfrm>
            <a:off x="13127772" y="7098640"/>
            <a:ext cx="3976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18"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286" name="Google Shape;286;p31"/>
          <p:cNvCxnSpPr/>
          <p:nvPr/>
        </p:nvCxnSpPr>
        <p:spPr>
          <a:xfrm>
            <a:off x="10675624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31"/>
          <p:cNvSpPr/>
          <p:nvPr/>
        </p:nvSpPr>
        <p:spPr>
          <a:xfrm>
            <a:off x="4903408" y="2138550"/>
            <a:ext cx="8281358" cy="8229600"/>
          </a:xfrm>
          <a:custGeom>
            <a:rect b="b" l="l" r="r" t="t"/>
            <a:pathLst>
              <a:path extrusionOk="0" h="8229600" w="8281358">
                <a:moveTo>
                  <a:pt x="0" y="0"/>
                </a:moveTo>
                <a:lnTo>
                  <a:pt x="8281358" y="0"/>
                </a:lnTo>
                <a:lnTo>
                  <a:pt x="82813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8" name="Google Shape;288;p31"/>
          <p:cNvGrpSpPr/>
          <p:nvPr/>
        </p:nvGrpSpPr>
        <p:grpSpPr>
          <a:xfrm>
            <a:off x="1183995" y="1631290"/>
            <a:ext cx="1409720" cy="1409720"/>
            <a:chOff x="0" y="0"/>
            <a:chExt cx="812800" cy="812800"/>
          </a:xfrm>
        </p:grpSpPr>
        <p:sp>
          <p:nvSpPr>
            <p:cNvPr id="289" name="Google Shape;289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31"/>
          <p:cNvGrpSpPr/>
          <p:nvPr/>
        </p:nvGrpSpPr>
        <p:grpSpPr>
          <a:xfrm>
            <a:off x="15694305" y="1631290"/>
            <a:ext cx="1409720" cy="1409720"/>
            <a:chOff x="0" y="0"/>
            <a:chExt cx="812800" cy="812800"/>
          </a:xfrm>
        </p:grpSpPr>
        <p:sp>
          <p:nvSpPr>
            <p:cNvPr id="292" name="Google Shape;292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31"/>
          <p:cNvGrpSpPr/>
          <p:nvPr/>
        </p:nvGrpSpPr>
        <p:grpSpPr>
          <a:xfrm>
            <a:off x="1183995" y="5548504"/>
            <a:ext cx="1409720" cy="1409720"/>
            <a:chOff x="0" y="0"/>
            <a:chExt cx="812800" cy="812800"/>
          </a:xfrm>
        </p:grpSpPr>
        <p:sp>
          <p:nvSpPr>
            <p:cNvPr id="295" name="Google Shape;295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15694305" y="5548504"/>
            <a:ext cx="1409720" cy="1409720"/>
            <a:chOff x="0" y="0"/>
            <a:chExt cx="812800" cy="812800"/>
          </a:xfrm>
        </p:grpSpPr>
        <p:sp>
          <p:nvSpPr>
            <p:cNvPr id="298" name="Google Shape;298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31"/>
          <p:cNvSpPr/>
          <p:nvPr/>
        </p:nvSpPr>
        <p:spPr>
          <a:xfrm>
            <a:off x="1383815" y="1831110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31"/>
          <p:cNvSpPr/>
          <p:nvPr/>
        </p:nvSpPr>
        <p:spPr>
          <a:xfrm>
            <a:off x="16039396" y="1796992"/>
            <a:ext cx="719517" cy="1078296"/>
          </a:xfrm>
          <a:custGeom>
            <a:rect b="b" l="l" r="r" t="t"/>
            <a:pathLst>
              <a:path extrusionOk="0" h="1078296" w="719517">
                <a:moveTo>
                  <a:pt x="0" y="0"/>
                </a:moveTo>
                <a:lnTo>
                  <a:pt x="719518" y="0"/>
                </a:lnTo>
                <a:lnTo>
                  <a:pt x="719518" y="1078296"/>
                </a:lnTo>
                <a:lnTo>
                  <a:pt x="0" y="107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31"/>
          <p:cNvSpPr/>
          <p:nvPr/>
        </p:nvSpPr>
        <p:spPr>
          <a:xfrm>
            <a:off x="138381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31"/>
          <p:cNvSpPr/>
          <p:nvPr/>
        </p:nvSpPr>
        <p:spPr>
          <a:xfrm>
            <a:off x="1589412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31"/>
          <p:cNvSpPr txBox="1"/>
          <p:nvPr/>
        </p:nvSpPr>
        <p:spPr>
          <a:xfrm>
            <a:off x="1184003" y="4020225"/>
            <a:ext cx="6269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C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ross-validation for hyperparameter tuning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 Data standardization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 Feature engineering using short-term device history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1183995" y="7944515"/>
            <a:ext cx="3777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Proposing a sensorless overheating protection model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Comparing classical ML algorithms 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10834925" y="4020225"/>
            <a:ext cx="6269100" cy="3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Idea: 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To compare the effectiveness of various ML algorithms in predicting BLDC motor winding temperature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Limitations: Requires large datasets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Environment sensitivity (ambience and cooling)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12774000" y="7944525"/>
            <a:ext cx="4330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Sensorless model (Model 1) achieved a MAPE below 4.5% and an R^2  above 0.909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 casing-sensor model (Model 2) reduced MAPE to ~1% with an R^2 of 0.990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.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-125" y="18625"/>
            <a:ext cx="18288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for Sensorless Temperature Estimation of a BLDC Motor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Czerwinski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al, 2021)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/>
        </p:nvSpPr>
        <p:spPr>
          <a:xfrm>
            <a:off x="386250" y="0"/>
            <a:ext cx="1751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for Sensorless Temperature Estimation of a BLDC Motor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(Czerwinski et al, 2021)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254250" y="1477500"/>
            <a:ext cx="17779500" cy="8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Dataset? </a:t>
            </a: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Over 160 hours of measurements at 4 Hz from two coupled BLDC machines under variable load and speed profiles.</a:t>
            </a:r>
            <a:endParaRPr sz="3018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Bebas Neue"/>
                <a:ea typeface="Bebas Neue"/>
                <a:cs typeface="Bebas Neue"/>
                <a:sym typeface="Bebas Neue"/>
                <a:hlinkClick r:id="rId3"/>
              </a:rPr>
              <a:t>https://ieee-dataport.org/documents/bldc-motor-temperature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Features?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Current, rotational speed, winding power losses, And mean and standard deviation of current and speed from the previous hour.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Target?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BLDC stator winding temperature.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Ml model?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Linear Regression, ElasticNet, SGD Regressor, Support Vector Machines (SVM), Decision Trees, and AdaBoost.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metrics?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Root Mean Squared Error (RMSE), Mean Absolute Percentage Error (MAPE), MSE, max absolute deviation, mae, mre, and Coefficient of Determination (R^2)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/>
        </p:nvSpPr>
        <p:spPr>
          <a:xfrm>
            <a:off x="1183995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Techniques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1183995" y="70986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Contribution</a:t>
            </a:r>
            <a:endParaRPr/>
          </a:p>
        </p:txBody>
      </p:sp>
      <p:cxnSp>
        <p:nvCxnSpPr>
          <p:cNvPr id="321" name="Google Shape;321;p33"/>
          <p:cNvCxnSpPr/>
          <p:nvPr/>
        </p:nvCxnSpPr>
        <p:spPr>
          <a:xfrm>
            <a:off x="1183995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33"/>
          <p:cNvCxnSpPr/>
          <p:nvPr/>
        </p:nvCxnSpPr>
        <p:spPr>
          <a:xfrm>
            <a:off x="1183995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33"/>
          <p:cNvSpPr txBox="1"/>
          <p:nvPr/>
        </p:nvSpPr>
        <p:spPr>
          <a:xfrm>
            <a:off x="13127772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 Idea vs Limitations</a:t>
            </a:r>
            <a:endParaRPr/>
          </a:p>
        </p:txBody>
      </p:sp>
      <p:cxnSp>
        <p:nvCxnSpPr>
          <p:cNvPr id="324" name="Google Shape;324;p33"/>
          <p:cNvCxnSpPr/>
          <p:nvPr/>
        </p:nvCxnSpPr>
        <p:spPr>
          <a:xfrm>
            <a:off x="9799299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33"/>
          <p:cNvSpPr txBox="1"/>
          <p:nvPr/>
        </p:nvSpPr>
        <p:spPr>
          <a:xfrm>
            <a:off x="13127772" y="7098640"/>
            <a:ext cx="3976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18"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326" name="Google Shape;326;p33"/>
          <p:cNvCxnSpPr/>
          <p:nvPr/>
        </p:nvCxnSpPr>
        <p:spPr>
          <a:xfrm>
            <a:off x="10675624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33"/>
          <p:cNvSpPr/>
          <p:nvPr/>
        </p:nvSpPr>
        <p:spPr>
          <a:xfrm>
            <a:off x="4903408" y="2138550"/>
            <a:ext cx="8281358" cy="8229600"/>
          </a:xfrm>
          <a:custGeom>
            <a:rect b="b" l="l" r="r" t="t"/>
            <a:pathLst>
              <a:path extrusionOk="0" h="8229600" w="8281358">
                <a:moveTo>
                  <a:pt x="0" y="0"/>
                </a:moveTo>
                <a:lnTo>
                  <a:pt x="8281358" y="0"/>
                </a:lnTo>
                <a:lnTo>
                  <a:pt x="82813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33"/>
          <p:cNvGrpSpPr/>
          <p:nvPr/>
        </p:nvGrpSpPr>
        <p:grpSpPr>
          <a:xfrm>
            <a:off x="1183995" y="1631290"/>
            <a:ext cx="1409720" cy="1409720"/>
            <a:chOff x="0" y="0"/>
            <a:chExt cx="812800" cy="812800"/>
          </a:xfrm>
        </p:grpSpPr>
        <p:sp>
          <p:nvSpPr>
            <p:cNvPr id="329" name="Google Shape;329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33"/>
          <p:cNvGrpSpPr/>
          <p:nvPr/>
        </p:nvGrpSpPr>
        <p:grpSpPr>
          <a:xfrm>
            <a:off x="15694305" y="1631290"/>
            <a:ext cx="1409720" cy="1409720"/>
            <a:chOff x="0" y="0"/>
            <a:chExt cx="812800" cy="812800"/>
          </a:xfrm>
        </p:grpSpPr>
        <p:sp>
          <p:nvSpPr>
            <p:cNvPr id="332" name="Google Shape;332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33"/>
          <p:cNvGrpSpPr/>
          <p:nvPr/>
        </p:nvGrpSpPr>
        <p:grpSpPr>
          <a:xfrm>
            <a:off x="1183995" y="5548504"/>
            <a:ext cx="1409720" cy="1409720"/>
            <a:chOff x="0" y="0"/>
            <a:chExt cx="812800" cy="812800"/>
          </a:xfrm>
        </p:grpSpPr>
        <p:sp>
          <p:nvSpPr>
            <p:cNvPr id="335" name="Google Shape;335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33"/>
          <p:cNvGrpSpPr/>
          <p:nvPr/>
        </p:nvGrpSpPr>
        <p:grpSpPr>
          <a:xfrm>
            <a:off x="15694305" y="5548504"/>
            <a:ext cx="1409720" cy="1409720"/>
            <a:chOff x="0" y="0"/>
            <a:chExt cx="812800" cy="812800"/>
          </a:xfrm>
        </p:grpSpPr>
        <p:sp>
          <p:nvSpPr>
            <p:cNvPr id="338" name="Google Shape;338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33"/>
          <p:cNvSpPr/>
          <p:nvPr/>
        </p:nvSpPr>
        <p:spPr>
          <a:xfrm>
            <a:off x="1383815" y="1831110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33"/>
          <p:cNvSpPr/>
          <p:nvPr/>
        </p:nvSpPr>
        <p:spPr>
          <a:xfrm>
            <a:off x="16039396" y="1796992"/>
            <a:ext cx="719517" cy="1078296"/>
          </a:xfrm>
          <a:custGeom>
            <a:rect b="b" l="l" r="r" t="t"/>
            <a:pathLst>
              <a:path extrusionOk="0" h="1078296" w="719517">
                <a:moveTo>
                  <a:pt x="0" y="0"/>
                </a:moveTo>
                <a:lnTo>
                  <a:pt x="719518" y="0"/>
                </a:lnTo>
                <a:lnTo>
                  <a:pt x="719518" y="1078296"/>
                </a:lnTo>
                <a:lnTo>
                  <a:pt x="0" y="107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33"/>
          <p:cNvSpPr/>
          <p:nvPr/>
        </p:nvSpPr>
        <p:spPr>
          <a:xfrm>
            <a:off x="138381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33"/>
          <p:cNvSpPr/>
          <p:nvPr/>
        </p:nvSpPr>
        <p:spPr>
          <a:xfrm>
            <a:off x="1589412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33"/>
          <p:cNvSpPr txBox="1"/>
          <p:nvPr/>
        </p:nvSpPr>
        <p:spPr>
          <a:xfrm>
            <a:off x="1183995" y="4020215"/>
            <a:ext cx="3777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Exploratory data analysis (EDA)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Ridge and Lasso regression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Polynomial regression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Tenfold cross validation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5" name="Google Shape;345;p33"/>
          <p:cNvSpPr txBox="1"/>
          <p:nvPr/>
        </p:nvSpPr>
        <p:spPr>
          <a:xfrm>
            <a:off x="1183995" y="7944515"/>
            <a:ext cx="3777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Predicts PMSM temperature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etailed feature importance matrix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No thermodynamic modelling needed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6" name="Google Shape;346;p33"/>
          <p:cNvSpPr txBox="1"/>
          <p:nvPr/>
        </p:nvSpPr>
        <p:spPr>
          <a:xfrm>
            <a:off x="10428900" y="4020225"/>
            <a:ext cx="6675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Idea: to extract the heat of vital EV motor parts (PMSM) using ML tools to predict temperatures from specifications and current measurements when sensors are hard to install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Limitations: data-dependency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7" name="Google Shape;347;p33"/>
          <p:cNvSpPr txBox="1"/>
          <p:nvPr/>
        </p:nvSpPr>
        <p:spPr>
          <a:xfrm>
            <a:off x="13326848" y="7944515"/>
            <a:ext cx="3777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SVM was the best model with a Test  RMSE of 0.59 standard deviations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R^2 values for polynomial regression reached between 0.593 and 0.682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-125" y="18625"/>
            <a:ext cx="18288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prediction for electric vehicles of permanent magnet synchronous motor using robust machine learning tools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Al‑Gabalawy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al, 2022)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 txBox="1"/>
          <p:nvPr/>
        </p:nvSpPr>
        <p:spPr>
          <a:xfrm>
            <a:off x="386250" y="0"/>
            <a:ext cx="1751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prediction for electric vehicles of permanent magnet synchronous motor using robust machine learning tools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Al‑Gabalawy et al, 2022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122250" y="1891350"/>
            <a:ext cx="17779500" cy="7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Dataset? </a:t>
            </a:r>
            <a:r>
              <a:rPr lang="en-US" sz="3000">
                <a:solidFill>
                  <a:srgbClr val="EF78B4"/>
                </a:solidFill>
                <a:latin typeface="Bebas Neue"/>
                <a:ea typeface="Bebas Neue"/>
                <a:cs typeface="Bebas Neue"/>
                <a:sym typeface="Bebas Neue"/>
              </a:rPr>
              <a:t>Uses a dataset with</a:t>
            </a:r>
            <a:r>
              <a:rPr lang="en-US" sz="3000">
                <a:solidFill>
                  <a:srgbClr val="EF78B4"/>
                </a:solidFill>
                <a:latin typeface="Bebas Neue"/>
                <a:ea typeface="Bebas Neue"/>
                <a:cs typeface="Bebas Neue"/>
                <a:sym typeface="Bebas Neue"/>
              </a:rPr>
              <a:t> specific </a:t>
            </a:r>
            <a:r>
              <a:rPr lang="en-US" sz="3000">
                <a:solidFill>
                  <a:srgbClr val="EF78B4"/>
                </a:solidFill>
                <a:latin typeface="Bebas Neue"/>
                <a:ea typeface="Bebas Neue"/>
                <a:cs typeface="Bebas Neue"/>
                <a:sym typeface="Bebas Neue"/>
              </a:rPr>
              <a:t>identifiers that are identical to the public dataset released by Kirchgässner et al.</a:t>
            </a:r>
            <a:endParaRPr sz="3018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15,147 instances with 13 attributes.</a:t>
            </a:r>
            <a:endParaRPr sz="3000">
              <a:solidFill>
                <a:srgbClr val="EF78B4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Features?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Ambient temperature, coolant temperature, voltage components, motor speed, motor torque, and current components.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Target?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Rotor temperature (pm)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Ml model?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Extra-Tree, Bagging K-Nearest Neighbors (KNN), Voting Regressor, Random Forest, SVM, and Xgboost.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metrics?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Root Mean Squared Error (RMSE) and Coefficient of Determination (R^2)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 txBox="1"/>
          <p:nvPr/>
        </p:nvSpPr>
        <p:spPr>
          <a:xfrm>
            <a:off x="1183995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Techniques</a:t>
            </a:r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1183995" y="70986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Contribution</a:t>
            </a:r>
            <a:endParaRPr/>
          </a:p>
        </p:txBody>
      </p:sp>
      <p:cxnSp>
        <p:nvCxnSpPr>
          <p:cNvPr id="361" name="Google Shape;361;p35"/>
          <p:cNvCxnSpPr/>
          <p:nvPr/>
        </p:nvCxnSpPr>
        <p:spPr>
          <a:xfrm>
            <a:off x="1183995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35"/>
          <p:cNvCxnSpPr/>
          <p:nvPr/>
        </p:nvCxnSpPr>
        <p:spPr>
          <a:xfrm>
            <a:off x="1183995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35"/>
          <p:cNvSpPr txBox="1"/>
          <p:nvPr/>
        </p:nvSpPr>
        <p:spPr>
          <a:xfrm>
            <a:off x="13127772" y="3174340"/>
            <a:ext cx="39762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 Idea vs Limitations</a:t>
            </a:r>
            <a:endParaRPr/>
          </a:p>
        </p:txBody>
      </p:sp>
      <p:cxnSp>
        <p:nvCxnSpPr>
          <p:cNvPr id="364" name="Google Shape;364;p35"/>
          <p:cNvCxnSpPr/>
          <p:nvPr/>
        </p:nvCxnSpPr>
        <p:spPr>
          <a:xfrm>
            <a:off x="9799299" y="3922541"/>
            <a:ext cx="73047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35"/>
          <p:cNvSpPr txBox="1"/>
          <p:nvPr/>
        </p:nvSpPr>
        <p:spPr>
          <a:xfrm>
            <a:off x="13127772" y="7098640"/>
            <a:ext cx="3976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18"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366" name="Google Shape;366;p35"/>
          <p:cNvCxnSpPr/>
          <p:nvPr/>
        </p:nvCxnSpPr>
        <p:spPr>
          <a:xfrm>
            <a:off x="10675624" y="7846841"/>
            <a:ext cx="6428400" cy="0"/>
          </a:xfrm>
          <a:prstGeom prst="straightConnector1">
            <a:avLst/>
          </a:prstGeom>
          <a:noFill/>
          <a:ln cap="rnd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35"/>
          <p:cNvSpPr/>
          <p:nvPr/>
        </p:nvSpPr>
        <p:spPr>
          <a:xfrm>
            <a:off x="4903408" y="2138550"/>
            <a:ext cx="8281358" cy="8229600"/>
          </a:xfrm>
          <a:custGeom>
            <a:rect b="b" l="l" r="r" t="t"/>
            <a:pathLst>
              <a:path extrusionOk="0" h="8229600" w="8281358">
                <a:moveTo>
                  <a:pt x="0" y="0"/>
                </a:moveTo>
                <a:lnTo>
                  <a:pt x="8281358" y="0"/>
                </a:lnTo>
                <a:lnTo>
                  <a:pt x="82813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8" name="Google Shape;368;p35"/>
          <p:cNvGrpSpPr/>
          <p:nvPr/>
        </p:nvGrpSpPr>
        <p:grpSpPr>
          <a:xfrm>
            <a:off x="1183995" y="1631290"/>
            <a:ext cx="1409720" cy="1409720"/>
            <a:chOff x="0" y="0"/>
            <a:chExt cx="812800" cy="812800"/>
          </a:xfrm>
        </p:grpSpPr>
        <p:sp>
          <p:nvSpPr>
            <p:cNvPr id="369" name="Google Shape;369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35"/>
          <p:cNvGrpSpPr/>
          <p:nvPr/>
        </p:nvGrpSpPr>
        <p:grpSpPr>
          <a:xfrm>
            <a:off x="15694305" y="1631290"/>
            <a:ext cx="1409720" cy="1409720"/>
            <a:chOff x="0" y="0"/>
            <a:chExt cx="812800" cy="812800"/>
          </a:xfrm>
        </p:grpSpPr>
        <p:sp>
          <p:nvSpPr>
            <p:cNvPr id="372" name="Google Shape;372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35"/>
          <p:cNvGrpSpPr/>
          <p:nvPr/>
        </p:nvGrpSpPr>
        <p:grpSpPr>
          <a:xfrm>
            <a:off x="1183995" y="5548504"/>
            <a:ext cx="1409720" cy="1409720"/>
            <a:chOff x="0" y="0"/>
            <a:chExt cx="812800" cy="812800"/>
          </a:xfrm>
        </p:grpSpPr>
        <p:sp>
          <p:nvSpPr>
            <p:cNvPr id="375" name="Google Shape;375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35"/>
          <p:cNvGrpSpPr/>
          <p:nvPr/>
        </p:nvGrpSpPr>
        <p:grpSpPr>
          <a:xfrm>
            <a:off x="15694305" y="5548504"/>
            <a:ext cx="1409720" cy="1409720"/>
            <a:chOff x="0" y="0"/>
            <a:chExt cx="812800" cy="812800"/>
          </a:xfrm>
        </p:grpSpPr>
        <p:sp>
          <p:nvSpPr>
            <p:cNvPr id="378" name="Google Shape;378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35"/>
          <p:cNvSpPr/>
          <p:nvPr/>
        </p:nvSpPr>
        <p:spPr>
          <a:xfrm>
            <a:off x="1383815" y="1831110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35"/>
          <p:cNvSpPr/>
          <p:nvPr/>
        </p:nvSpPr>
        <p:spPr>
          <a:xfrm>
            <a:off x="16039396" y="1796992"/>
            <a:ext cx="719517" cy="1078296"/>
          </a:xfrm>
          <a:custGeom>
            <a:rect b="b" l="l" r="r" t="t"/>
            <a:pathLst>
              <a:path extrusionOk="0" h="1078296" w="719517">
                <a:moveTo>
                  <a:pt x="0" y="0"/>
                </a:moveTo>
                <a:lnTo>
                  <a:pt x="719518" y="0"/>
                </a:lnTo>
                <a:lnTo>
                  <a:pt x="719518" y="1078296"/>
                </a:lnTo>
                <a:lnTo>
                  <a:pt x="0" y="1078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35"/>
          <p:cNvSpPr/>
          <p:nvPr/>
        </p:nvSpPr>
        <p:spPr>
          <a:xfrm>
            <a:off x="138381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35"/>
          <p:cNvSpPr/>
          <p:nvPr/>
        </p:nvSpPr>
        <p:spPr>
          <a:xfrm>
            <a:off x="15894125" y="5748324"/>
            <a:ext cx="1010060" cy="1010060"/>
          </a:xfrm>
          <a:custGeom>
            <a:rect b="b" l="l" r="r" t="t"/>
            <a:pathLst>
              <a:path extrusionOk="0" h="1010060" w="1010060">
                <a:moveTo>
                  <a:pt x="0" y="0"/>
                </a:moveTo>
                <a:lnTo>
                  <a:pt x="1010060" y="0"/>
                </a:lnTo>
                <a:lnTo>
                  <a:pt x="1010060" y="1010060"/>
                </a:lnTo>
                <a:lnTo>
                  <a:pt x="0" y="1010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35"/>
          <p:cNvSpPr txBox="1"/>
          <p:nvPr/>
        </p:nvSpPr>
        <p:spPr>
          <a:xfrm>
            <a:off x="1183995" y="4020215"/>
            <a:ext cx="37773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First-order Euler discretization, state-space representation, and kernel-based hyperparameter optimization (HPO)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1183995" y="7944515"/>
            <a:ext cx="37773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Proposes the TNN approach which solves the limitations of previous black-box (RNN) and 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expertise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 dependent (LPTN) approaches by joining them together.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11867500" y="4020225"/>
            <a:ext cx="52368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Idea: Combine lumped-parameter thermal networks (LPTN) + 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state-space machine learning (SSNN)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.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Limitations: Requires large dataset</a:t>
            </a:r>
            <a:r>
              <a:rPr lang="en-US" sz="1700">
                <a:latin typeface="Rubik"/>
                <a:ea typeface="Rubik"/>
                <a:cs typeface="Rubik"/>
                <a:sym typeface="Rubik"/>
              </a:rPr>
              <a:t>s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13326848" y="7944515"/>
            <a:ext cx="3777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Achieved an MSE of 3.18K^2</a:t>
            </a:r>
            <a:endParaRPr sz="17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ubik"/>
                <a:ea typeface="Rubik"/>
                <a:cs typeface="Rubik"/>
                <a:sym typeface="Rubik"/>
              </a:rPr>
              <a:t>Maximum absolute deviation &lt; 5.84 K</a:t>
            </a:r>
            <a:endParaRPr sz="1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8" name="Google Shape;388;p35"/>
          <p:cNvSpPr txBox="1"/>
          <p:nvPr/>
        </p:nvSpPr>
        <p:spPr>
          <a:xfrm>
            <a:off x="-125" y="18625"/>
            <a:ext cx="182880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Thermal neural networks: Lumped-parameter thermal modeling with state-space machine learning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(Kirchgässner et al, 2023)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/>
          <p:nvPr/>
        </p:nvSpPr>
        <p:spPr>
          <a:xfrm>
            <a:off x="0" y="0"/>
            <a:ext cx="1819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Thermal neural networks: Lumped-parameter thermal modeling with state-space machine learning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(Kirchgässner et al, 2023)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6"/>
          <p:cNvSpPr txBox="1"/>
          <p:nvPr/>
        </p:nvSpPr>
        <p:spPr>
          <a:xfrm>
            <a:off x="254250" y="1911050"/>
            <a:ext cx="17779500" cy="7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Dataset? </a:t>
            </a: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185</a:t>
            </a: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 hours of multivariate measurements sampled at 2 Hz from a 52 kW PMSM</a:t>
            </a:r>
            <a:endParaRPr sz="3018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Bebas Neue"/>
                <a:ea typeface="Bebas Neue"/>
                <a:cs typeface="Bebas Neue"/>
                <a:sym typeface="Bebas Neue"/>
                <a:hlinkClick r:id="rId3"/>
              </a:rPr>
              <a:t>www.kaggle.com/wkirgsn/electric-motor-temperature</a:t>
            </a: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 , </a:t>
            </a:r>
            <a:r>
              <a:rPr lang="en-US" sz="3000" u="sng">
                <a:solidFill>
                  <a:schemeClr val="hlink"/>
                </a:solidFill>
                <a:latin typeface="Bebas Neue"/>
                <a:ea typeface="Bebas Neue"/>
                <a:cs typeface="Bebas Neue"/>
                <a:sym typeface="Bebas Neue"/>
                <a:hlinkClick r:id="rId4"/>
              </a:rPr>
              <a:t>https://github.com/wkirgsn/thermal-nn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Features?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Voltage vector norm, current vector norm, mechanical angular frequency and ambient and coolant temperatures.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Target?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Stator teeth, winding, yoke, and rotor permanent magnet temperatures.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Ml model?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Hybrid TNN.</a:t>
            </a:r>
            <a:b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n-US" sz="3918">
                <a:solidFill>
                  <a:srgbClr val="7F6FED"/>
                </a:solidFill>
                <a:latin typeface="Bebas Neue"/>
                <a:ea typeface="Bebas Neue"/>
                <a:cs typeface="Bebas Neue"/>
                <a:sym typeface="Bebas Neue"/>
              </a:rPr>
              <a:t>metrics?</a:t>
            </a:r>
            <a:endParaRPr sz="3918">
              <a:solidFill>
                <a:srgbClr val="7F6FE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CBA9"/>
                </a:solidFill>
                <a:latin typeface="Bebas Neue"/>
                <a:ea typeface="Bebas Neue"/>
                <a:cs typeface="Bebas Neue"/>
                <a:sym typeface="Bebas Neue"/>
              </a:rPr>
              <a:t>Mean Squared Error (MSE) and Maximum Absolute Deviation (L ∞-norm)</a:t>
            </a:r>
            <a:endParaRPr sz="3000">
              <a:solidFill>
                <a:srgbClr val="0ACBA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" name="Google Shape;399;p37"/>
          <p:cNvGraphicFramePr/>
          <p:nvPr/>
        </p:nvGraphicFramePr>
        <p:xfrm>
          <a:off x="685800" y="2413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{8934D0EB-95F8-4599-88B6-B760490FD926}</a:tableStyleId>
              </a:tblPr>
              <a:tblGrid>
                <a:gridCol w="2819400"/>
                <a:gridCol w="2819400"/>
                <a:gridCol w="2819400"/>
                <a:gridCol w="2819400"/>
                <a:gridCol w="2819400"/>
                <a:gridCol w="2819400"/>
              </a:tblGrid>
              <a:tr h="105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Paper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1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Models and techniques 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78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Optimisation Type</a:t>
                      </a:r>
                      <a:endParaRPr sz="28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78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Performance metrics and results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78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Strength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78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Limitation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78B4"/>
                    </a:solidFill>
                  </a:tcPr>
                </a:tc>
              </a:tr>
              <a:tr h="10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(kirchgasse et al, 2021)</a:t>
                      </a:r>
                      <a:endParaRPr sz="9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1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RNN, TCN, LTSM, and GRU.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Bayesian Optimisation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Adam Optimiser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MSE &lt;  4K^2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Maximum absolute deviation &lt; 9K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High estimation accuracy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No Required Expertise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Real-time Adaptability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Black-Box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Data Dependency</a:t>
                      </a:r>
                      <a:endParaRPr sz="2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</a:tr>
              <a:tr h="10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(Czerwinski  et al, 2021)</a:t>
                      </a:r>
                      <a:endParaRPr sz="28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1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Linear Regression, ElasticNet, SGD Regressor, SVM, Decision Trees, and AdaBoost.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Exhaustive Grid Search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Adam/SDG optimiser 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MAPE &lt;4.5% and R^2 &gt; 0.909 (model 1), Mape of 1% and R^2 of 0.99 (Model 2) (and more)</a:t>
                      </a:r>
                      <a:endParaRPr sz="2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High estimation accuracy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Data Dependency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</a:tr>
              <a:tr h="10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(Al-gabalawy et al, 2022)</a:t>
                      </a:r>
                      <a:endParaRPr sz="28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1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Knn, Voting regressor, Random Forest, SVM, Xgboost, and eda.</a:t>
                      </a:r>
                      <a:endParaRPr sz="1900" u="none" cap="none" strike="noStrike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Tenfold Cross-Validation</a:t>
                      </a:r>
                      <a:b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</a:b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Ridge and lasso Regression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RMSE of 0.59 standard deviation (SVM)</a:t>
                      </a:r>
                      <a:endParaRPr sz="1900">
                        <a:solidFill>
                          <a:srgbClr val="FCF7FC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High estimation accuracy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No Required Expertise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Real-time Adaptability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Data Dependency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environment sensitivity</a:t>
                      </a:r>
                      <a:endParaRPr sz="19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</a:tr>
              <a:tr h="10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(kirchgasse et al, 2023)</a:t>
                      </a:r>
                      <a:endParaRPr sz="28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1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Tnn (LPTN + SSNN).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Kernel-based HPO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Nadam Optimizer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MSE of 3.18 K^2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Maximum absolute deviation &lt; 5.84 K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High estimation accuracy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No Required Expertise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Real-time Adaptability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Data Dependency</a:t>
                      </a:r>
                      <a:endParaRPr sz="1900">
                        <a:solidFill>
                          <a:srgbClr val="FFFFFF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FED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37"/>
          <p:cNvSpPr txBox="1"/>
          <p:nvPr/>
        </p:nvSpPr>
        <p:spPr>
          <a:xfrm>
            <a:off x="685800" y="673400"/>
            <a:ext cx="16916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1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999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Comparison Table</a:t>
            </a:r>
            <a:endParaRPr b="1" sz="6999">
              <a:solidFill>
                <a:srgbClr val="7C6CE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Google Shape;405;p38"/>
          <p:cNvCxnSpPr/>
          <p:nvPr/>
        </p:nvCxnSpPr>
        <p:spPr>
          <a:xfrm rot="-5400000">
            <a:off x="3592321" y="5143666"/>
            <a:ext cx="6291600" cy="0"/>
          </a:xfrm>
          <a:prstGeom prst="straightConnector1">
            <a:avLst/>
          </a:prstGeom>
          <a:noFill/>
          <a:ln cap="flat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8"/>
          <p:cNvCxnSpPr/>
          <p:nvPr/>
        </p:nvCxnSpPr>
        <p:spPr>
          <a:xfrm>
            <a:off x="6738120" y="2012138"/>
            <a:ext cx="1452600" cy="0"/>
          </a:xfrm>
          <a:prstGeom prst="straightConnector1">
            <a:avLst/>
          </a:prstGeom>
          <a:noFill/>
          <a:ln cap="flat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8"/>
          <p:cNvCxnSpPr/>
          <p:nvPr/>
        </p:nvCxnSpPr>
        <p:spPr>
          <a:xfrm>
            <a:off x="6738120" y="8275178"/>
            <a:ext cx="1452600" cy="0"/>
          </a:xfrm>
          <a:prstGeom prst="straightConnector1">
            <a:avLst/>
          </a:prstGeom>
          <a:noFill/>
          <a:ln cap="flat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8" name="Google Shape;408;p38"/>
          <p:cNvGrpSpPr/>
          <p:nvPr/>
        </p:nvGrpSpPr>
        <p:grpSpPr>
          <a:xfrm>
            <a:off x="7438413" y="1312051"/>
            <a:ext cx="1409720" cy="1409720"/>
            <a:chOff x="0" y="0"/>
            <a:chExt cx="812800" cy="812800"/>
          </a:xfrm>
        </p:grpSpPr>
        <p:sp>
          <p:nvSpPr>
            <p:cNvPr id="409" name="Google Shape;409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38"/>
          <p:cNvGrpSpPr/>
          <p:nvPr/>
        </p:nvGrpSpPr>
        <p:grpSpPr>
          <a:xfrm>
            <a:off x="11926654" y="1777482"/>
            <a:ext cx="478820" cy="478820"/>
            <a:chOff x="0" y="0"/>
            <a:chExt cx="812800" cy="812800"/>
          </a:xfrm>
        </p:grpSpPr>
        <p:sp>
          <p:nvSpPr>
            <p:cNvPr id="412" name="Google Shape;412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38"/>
          <p:cNvGrpSpPr/>
          <p:nvPr/>
        </p:nvGrpSpPr>
        <p:grpSpPr>
          <a:xfrm>
            <a:off x="11926654" y="8030681"/>
            <a:ext cx="478820" cy="478820"/>
            <a:chOff x="0" y="0"/>
            <a:chExt cx="812800" cy="812800"/>
          </a:xfrm>
        </p:grpSpPr>
        <p:sp>
          <p:nvSpPr>
            <p:cNvPr id="415" name="Google Shape;415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2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38"/>
          <p:cNvGrpSpPr/>
          <p:nvPr/>
        </p:nvGrpSpPr>
        <p:grpSpPr>
          <a:xfrm>
            <a:off x="7438413" y="7565249"/>
            <a:ext cx="1409720" cy="1409720"/>
            <a:chOff x="0" y="0"/>
            <a:chExt cx="812800" cy="812800"/>
          </a:xfrm>
        </p:grpSpPr>
        <p:sp>
          <p:nvSpPr>
            <p:cNvPr id="418" name="Google Shape;418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2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38"/>
          <p:cNvSpPr/>
          <p:nvPr/>
        </p:nvSpPr>
        <p:spPr>
          <a:xfrm>
            <a:off x="7677274" y="7849015"/>
            <a:ext cx="931977" cy="842169"/>
          </a:xfrm>
          <a:custGeom>
            <a:rect b="b" l="l" r="r" t="t"/>
            <a:pathLst>
              <a:path extrusionOk="0" h="842169" w="931977">
                <a:moveTo>
                  <a:pt x="0" y="0"/>
                </a:moveTo>
                <a:lnTo>
                  <a:pt x="931977" y="0"/>
                </a:lnTo>
                <a:lnTo>
                  <a:pt x="931977" y="842169"/>
                </a:lnTo>
                <a:lnTo>
                  <a:pt x="0" y="84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38"/>
          <p:cNvSpPr/>
          <p:nvPr/>
        </p:nvSpPr>
        <p:spPr>
          <a:xfrm>
            <a:off x="7729273" y="1513665"/>
            <a:ext cx="825306" cy="1006471"/>
          </a:xfrm>
          <a:custGeom>
            <a:rect b="b" l="l" r="r" t="t"/>
            <a:pathLst>
              <a:path extrusionOk="0" h="1006471" w="825306">
                <a:moveTo>
                  <a:pt x="0" y="0"/>
                </a:moveTo>
                <a:lnTo>
                  <a:pt x="825306" y="0"/>
                </a:lnTo>
                <a:lnTo>
                  <a:pt x="825306" y="1006471"/>
                </a:lnTo>
                <a:lnTo>
                  <a:pt x="0" y="100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22" name="Google Shape;422;p38"/>
          <p:cNvCxnSpPr/>
          <p:nvPr/>
        </p:nvCxnSpPr>
        <p:spPr>
          <a:xfrm>
            <a:off x="3128350" y="5143658"/>
            <a:ext cx="5281500" cy="0"/>
          </a:xfrm>
          <a:prstGeom prst="straightConnector1">
            <a:avLst/>
          </a:prstGeom>
          <a:noFill/>
          <a:ln cap="flat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3" name="Google Shape;423;p38"/>
          <p:cNvGrpSpPr/>
          <p:nvPr/>
        </p:nvGrpSpPr>
        <p:grpSpPr>
          <a:xfrm>
            <a:off x="7438413" y="4438650"/>
            <a:ext cx="1409720" cy="1409720"/>
            <a:chOff x="0" y="0"/>
            <a:chExt cx="812800" cy="812800"/>
          </a:xfrm>
        </p:grpSpPr>
        <p:sp>
          <p:nvSpPr>
            <p:cNvPr id="424" name="Google Shape;424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11926654" y="4904082"/>
            <a:ext cx="478820" cy="478820"/>
            <a:chOff x="0" y="0"/>
            <a:chExt cx="812800" cy="812800"/>
          </a:xfrm>
        </p:grpSpPr>
        <p:sp>
          <p:nvSpPr>
            <p:cNvPr id="427" name="Google Shape;427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38"/>
          <p:cNvSpPr/>
          <p:nvPr/>
        </p:nvSpPr>
        <p:spPr>
          <a:xfrm>
            <a:off x="7660690" y="4655070"/>
            <a:ext cx="965145" cy="861611"/>
          </a:xfrm>
          <a:custGeom>
            <a:rect b="b" l="l" r="r" t="t"/>
            <a:pathLst>
              <a:path extrusionOk="0" h="861611" w="965145">
                <a:moveTo>
                  <a:pt x="0" y="0"/>
                </a:moveTo>
                <a:lnTo>
                  <a:pt x="965145" y="0"/>
                </a:lnTo>
                <a:lnTo>
                  <a:pt x="965145" y="861611"/>
                </a:lnTo>
                <a:lnTo>
                  <a:pt x="0" y="861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38"/>
          <p:cNvSpPr/>
          <p:nvPr/>
        </p:nvSpPr>
        <p:spPr>
          <a:xfrm flipH="1">
            <a:off x="674429" y="2462691"/>
            <a:ext cx="5602565" cy="5371459"/>
          </a:xfrm>
          <a:custGeom>
            <a:rect b="b" l="l" r="r" t="t"/>
            <a:pathLst>
              <a:path extrusionOk="0" h="5371459" w="5602565">
                <a:moveTo>
                  <a:pt x="5602565" y="0"/>
                </a:moveTo>
                <a:lnTo>
                  <a:pt x="0" y="0"/>
                </a:lnTo>
                <a:lnTo>
                  <a:pt x="0" y="5371459"/>
                </a:lnTo>
                <a:lnTo>
                  <a:pt x="5602565" y="5371459"/>
                </a:lnTo>
                <a:lnTo>
                  <a:pt x="560256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38"/>
          <p:cNvSpPr txBox="1"/>
          <p:nvPr/>
        </p:nvSpPr>
        <p:spPr>
          <a:xfrm>
            <a:off x="9352938" y="1633275"/>
            <a:ext cx="2088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Efficiency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9352938" y="7886474"/>
            <a:ext cx="2088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Comparison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12967465" y="1456515"/>
            <a:ext cx="39108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ubik"/>
                <a:ea typeface="Rubik"/>
                <a:cs typeface="Rubik"/>
                <a:sym typeface="Rubik"/>
              </a:rPr>
              <a:t>Achieves this higher accuracy with fewer parameters (64 parameters compared to thousands in black-box models).</a:t>
            </a:r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12967465" y="7709714"/>
            <a:ext cx="4011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ubik"/>
                <a:ea typeface="Rubik"/>
                <a:cs typeface="Rubik"/>
                <a:sym typeface="Rubik"/>
              </a:rPr>
              <a:t>Higher Accuracy than other sensorless models in papers 1, 2 and 3. Although, source 2 shows high accuracy with casing sensors.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9352938" y="4759874"/>
            <a:ext cx="2088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Accuracy</a:t>
            </a:r>
            <a:endParaRPr/>
          </a:p>
        </p:txBody>
      </p:sp>
      <p:sp>
        <p:nvSpPr>
          <p:cNvPr id="436" name="Google Shape;436;p38"/>
          <p:cNvSpPr txBox="1"/>
          <p:nvPr/>
        </p:nvSpPr>
        <p:spPr>
          <a:xfrm>
            <a:off x="12967476" y="4583125"/>
            <a:ext cx="4011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ubik"/>
                <a:ea typeface="Rubik"/>
                <a:cs typeface="Rubik"/>
                <a:sym typeface="Rubik"/>
              </a:rPr>
              <a:t>It achieved a Mean Squared Error (MSE) of 3.18 K^2 and a worst-case error (L∞ -norm) of 5.84 K</a:t>
            </a:r>
            <a:endParaRPr sz="2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37" name="Google Shape;437;p38"/>
          <p:cNvSpPr txBox="1"/>
          <p:nvPr/>
        </p:nvSpPr>
        <p:spPr>
          <a:xfrm>
            <a:off x="2394213" y="3762375"/>
            <a:ext cx="21630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B1B94"/>
                </a:solidFill>
                <a:latin typeface="Bebas Neue"/>
                <a:ea typeface="Bebas Neue"/>
                <a:cs typeface="Bebas Neue"/>
                <a:sym typeface="Bebas Neue"/>
              </a:rPr>
              <a:t>(Kirchgässner et al, 2023)</a:t>
            </a:r>
            <a:endParaRPr sz="3100"/>
          </a:p>
        </p:txBody>
      </p:sp>
      <p:sp>
        <p:nvSpPr>
          <p:cNvPr id="438" name="Google Shape;438;p38"/>
          <p:cNvSpPr txBox="1"/>
          <p:nvPr/>
        </p:nvSpPr>
        <p:spPr>
          <a:xfrm>
            <a:off x="106350" y="0"/>
            <a:ext cx="1818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1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Best source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9"/>
          <p:cNvSpPr txBox="1"/>
          <p:nvPr/>
        </p:nvSpPr>
        <p:spPr>
          <a:xfrm>
            <a:off x="1028700" y="1085850"/>
            <a:ext cx="16230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7C6CE3"/>
                </a:solidFill>
                <a:latin typeface="Bebas Neue"/>
                <a:ea typeface="Bebas Neue"/>
                <a:cs typeface="Bebas Neue"/>
                <a:sym typeface="Bebas Neue"/>
              </a:rPr>
              <a:t>3 Ideas! </a:t>
            </a:r>
            <a:r>
              <a:rPr b="1" lang="en-US" sz="6999">
                <a:solidFill>
                  <a:srgbClr val="EF78B4"/>
                </a:solidFill>
                <a:latin typeface="Bebas Neue"/>
                <a:ea typeface="Bebas Neue"/>
                <a:cs typeface="Bebas Neue"/>
                <a:sym typeface="Bebas Neue"/>
              </a:rPr>
              <a:t>(and we choose the first one)</a:t>
            </a:r>
            <a:endParaRPr>
              <a:solidFill>
                <a:srgbClr val="EF78B4"/>
              </a:solidFill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6868772" y="7176273"/>
            <a:ext cx="45504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Applying a TNN to the BLDC motor would solve several problems mentioned in (Czerwinski  et al, 2021): it would provide physically interpretable states, allow for initial condition adjustment, and likely achieve higher accuracy with far fewer parameters than the classical models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7086119" y="6349503"/>
            <a:ext cx="41157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Improve source 2</a:t>
            </a:r>
            <a:endParaRPr/>
          </a:p>
        </p:txBody>
      </p:sp>
      <p:sp>
        <p:nvSpPr>
          <p:cNvPr id="446" name="Google Shape;446;p39"/>
          <p:cNvSpPr txBox="1"/>
          <p:nvPr/>
        </p:nvSpPr>
        <p:spPr>
          <a:xfrm>
            <a:off x="1342820" y="7176273"/>
            <a:ext cx="4514100" cy="2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(Kirchgässner et al, 2021) originally used a 140-hour dataset. (Kirchgässner et al, 2023), utilizes an expanded 185-hour dataset that is already publicly available on Kaggle. By using the extra 45 hours of data, we can </a:t>
            </a:r>
            <a:r>
              <a:rPr lang="en-US" sz="1900">
                <a:solidFill>
                  <a:schemeClr val="dk1"/>
                </a:solidFill>
              </a:rPr>
              <a:t>verify</a:t>
            </a:r>
            <a:r>
              <a:rPr lang="en-US" sz="1900">
                <a:solidFill>
                  <a:schemeClr val="dk1"/>
                </a:solidFill>
              </a:rPr>
              <a:t> whether the performance keeps improving.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47" name="Google Shape;447;p39"/>
          <p:cNvSpPr txBox="1"/>
          <p:nvPr/>
        </p:nvSpPr>
        <p:spPr>
          <a:xfrm>
            <a:off x="12630257" y="7176273"/>
            <a:ext cx="41157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(Kirchgässner et al, 2023)</a:t>
            </a:r>
            <a:r>
              <a:rPr lang="en-US" sz="1800">
                <a:solidFill>
                  <a:schemeClr val="dk1"/>
                </a:solidFill>
              </a:rPr>
              <a:t> suggests that the TNN and state-space machine learning principles should be applied to other domains like battery systems (state of charge) or power electronic converters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8" name="Google Shape;448;p39"/>
          <p:cNvSpPr txBox="1"/>
          <p:nvPr/>
        </p:nvSpPr>
        <p:spPr>
          <a:xfrm>
            <a:off x="1541981" y="6349503"/>
            <a:ext cx="41157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latin typeface="Bebas Neue"/>
                <a:ea typeface="Bebas Neue"/>
                <a:cs typeface="Bebas Neue"/>
                <a:sym typeface="Bebas Neue"/>
              </a:rPr>
              <a:t>Expand Source 1</a:t>
            </a:r>
            <a:endParaRPr/>
          </a:p>
        </p:txBody>
      </p:sp>
      <p:sp>
        <p:nvSpPr>
          <p:cNvPr id="449" name="Google Shape;449;p39"/>
          <p:cNvSpPr txBox="1"/>
          <p:nvPr/>
        </p:nvSpPr>
        <p:spPr>
          <a:xfrm>
            <a:off x="12630250" y="6349500"/>
            <a:ext cx="4217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0" lvl="0" marL="0" rtl="0" algn="ctr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5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Apply source 4</a:t>
            </a:r>
            <a:endParaRPr sz="156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18"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450" name="Google Shape;450;p39"/>
          <p:cNvCxnSpPr/>
          <p:nvPr/>
        </p:nvCxnSpPr>
        <p:spPr>
          <a:xfrm>
            <a:off x="3357563" y="4122236"/>
            <a:ext cx="11940600" cy="0"/>
          </a:xfrm>
          <a:prstGeom prst="straightConnector1">
            <a:avLst/>
          </a:prstGeom>
          <a:noFill/>
          <a:ln cap="flat" cmpd="sng" w="9525">
            <a:solidFill>
              <a:srgbClr val="4032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1" name="Google Shape;451;p39"/>
          <p:cNvGrpSpPr/>
          <p:nvPr/>
        </p:nvGrpSpPr>
        <p:grpSpPr>
          <a:xfrm>
            <a:off x="2490200" y="3041149"/>
            <a:ext cx="2219350" cy="2219350"/>
            <a:chOff x="0" y="0"/>
            <a:chExt cx="812800" cy="812800"/>
          </a:xfrm>
        </p:grpSpPr>
        <p:sp>
          <p:nvSpPr>
            <p:cNvPr id="452" name="Google Shape;452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p39"/>
          <p:cNvGrpSpPr/>
          <p:nvPr/>
        </p:nvGrpSpPr>
        <p:grpSpPr>
          <a:xfrm>
            <a:off x="3356975" y="5577978"/>
            <a:ext cx="485811" cy="485811"/>
            <a:chOff x="0" y="0"/>
            <a:chExt cx="812800" cy="812800"/>
          </a:xfrm>
        </p:grpSpPr>
        <p:sp>
          <p:nvSpPr>
            <p:cNvPr id="455" name="Google Shape;455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8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39"/>
          <p:cNvGrpSpPr/>
          <p:nvPr/>
        </p:nvGrpSpPr>
        <p:grpSpPr>
          <a:xfrm>
            <a:off x="8901113" y="5577978"/>
            <a:ext cx="485811" cy="485811"/>
            <a:chOff x="0" y="0"/>
            <a:chExt cx="812800" cy="812800"/>
          </a:xfrm>
        </p:grpSpPr>
        <p:sp>
          <p:nvSpPr>
            <p:cNvPr id="458" name="Google Shape;458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p39"/>
          <p:cNvGrpSpPr/>
          <p:nvPr/>
        </p:nvGrpSpPr>
        <p:grpSpPr>
          <a:xfrm>
            <a:off x="14445250" y="5577978"/>
            <a:ext cx="485811" cy="485811"/>
            <a:chOff x="0" y="0"/>
            <a:chExt cx="812800" cy="812800"/>
          </a:xfrm>
        </p:grpSpPr>
        <p:sp>
          <p:nvSpPr>
            <p:cNvPr id="461" name="Google Shape;461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2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39"/>
          <p:cNvGrpSpPr/>
          <p:nvPr/>
        </p:nvGrpSpPr>
        <p:grpSpPr>
          <a:xfrm>
            <a:off x="8034338" y="3041149"/>
            <a:ext cx="2219350" cy="2219350"/>
            <a:chOff x="0" y="0"/>
            <a:chExt cx="812800" cy="812800"/>
          </a:xfrm>
        </p:grpSpPr>
        <p:sp>
          <p:nvSpPr>
            <p:cNvPr id="464" name="Google Shape;464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39"/>
          <p:cNvGrpSpPr/>
          <p:nvPr/>
        </p:nvGrpSpPr>
        <p:grpSpPr>
          <a:xfrm>
            <a:off x="13578475" y="3041149"/>
            <a:ext cx="2219350" cy="2219350"/>
            <a:chOff x="0" y="0"/>
            <a:chExt cx="812800" cy="812800"/>
          </a:xfrm>
        </p:grpSpPr>
        <p:sp>
          <p:nvSpPr>
            <p:cNvPr id="467" name="Google Shape;467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2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39"/>
          <p:cNvSpPr txBox="1"/>
          <p:nvPr/>
        </p:nvSpPr>
        <p:spPr>
          <a:xfrm>
            <a:off x="3407525" y="3668175"/>
            <a:ext cx="38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  <a:endParaRPr sz="47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70" name="Google Shape;470;p39"/>
          <p:cNvSpPr txBox="1"/>
          <p:nvPr/>
        </p:nvSpPr>
        <p:spPr>
          <a:xfrm>
            <a:off x="8951713" y="3668175"/>
            <a:ext cx="38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  <a:endParaRPr sz="47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14495900" y="3696775"/>
            <a:ext cx="384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sz="47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40"/>
          <p:cNvGrpSpPr/>
          <p:nvPr/>
        </p:nvGrpSpPr>
        <p:grpSpPr>
          <a:xfrm>
            <a:off x="-831988" y="9231526"/>
            <a:ext cx="20140319" cy="2061827"/>
            <a:chOff x="5993" y="934"/>
            <a:chExt cx="26853758" cy="2749103"/>
          </a:xfrm>
        </p:grpSpPr>
        <p:sp>
          <p:nvSpPr>
            <p:cNvPr id="477" name="Google Shape;477;p40"/>
            <p:cNvSpPr/>
            <p:nvPr/>
          </p:nvSpPr>
          <p:spPr>
            <a:xfrm rot="5420341">
              <a:off x="5381866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 rot="5420341">
              <a:off x="16117381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 rot="5420341">
              <a:off x="21484936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 rot="5420341">
              <a:off x="2697887" y="25632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 rot="5420341">
              <a:off x="13433401" y="25632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 rot="5420341">
              <a:off x="8065846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 rot="5420341">
              <a:off x="18801360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 rot="5420341">
              <a:off x="24168915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 rot="5420341">
              <a:off x="13907" y="8848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 rot="5420341">
              <a:off x="10749422" y="8848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40"/>
          <p:cNvGrpSpPr/>
          <p:nvPr/>
        </p:nvGrpSpPr>
        <p:grpSpPr>
          <a:xfrm>
            <a:off x="-831988" y="-1207124"/>
            <a:ext cx="20140319" cy="2061827"/>
            <a:chOff x="5993" y="934"/>
            <a:chExt cx="26853758" cy="2749103"/>
          </a:xfrm>
        </p:grpSpPr>
        <p:sp>
          <p:nvSpPr>
            <p:cNvPr id="488" name="Google Shape;488;p40"/>
            <p:cNvSpPr/>
            <p:nvPr/>
          </p:nvSpPr>
          <p:spPr>
            <a:xfrm rot="5420341">
              <a:off x="5381866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 rot="5420341">
              <a:off x="16117381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 rot="5420341">
              <a:off x="21484936" y="42417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 rot="5420341">
              <a:off x="2697887" y="25632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 rot="5420341">
              <a:off x="13433401" y="25632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 rot="5420341">
              <a:off x="8065846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 rot="5420341">
              <a:off x="18801360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 rot="5420341">
              <a:off x="24168915" y="59201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 rot="5420341">
              <a:off x="13907" y="8848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 rot="5420341">
              <a:off x="10749422" y="8848"/>
              <a:ext cx="2682922" cy="268292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F6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40"/>
          <p:cNvSpPr txBox="1"/>
          <p:nvPr/>
        </p:nvSpPr>
        <p:spPr>
          <a:xfrm>
            <a:off x="5336250" y="854700"/>
            <a:ext cx="761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References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0"/>
          <p:cNvSpPr txBox="1"/>
          <p:nvPr/>
        </p:nvSpPr>
        <p:spPr>
          <a:xfrm>
            <a:off x="110750" y="1594900"/>
            <a:ext cx="181773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W. Kirchgässner, O. Wallscheid, and J. Böcker, "Estimating Electric Motor Temperatures With Deep Residual Machine Learning," IEEE Transactions on Power Electronics, vol. 36, no. 7, pp. 7480-7488, July 2021.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 D. Czerwinski, J. Gęca, and K. Kolano, "Machine Learning for Sensorless Temperature Estimation of a BLDC Motor," Sensors, vol. 21, no. 14, p. 4655, July 2021.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 M. Al-Gabalawy, A. H. </a:t>
            </a:r>
            <a:r>
              <a:rPr lang="en-US" sz="3000"/>
              <a:t>El Metwally</a:t>
            </a:r>
            <a:r>
              <a:rPr lang="en-US" sz="3000"/>
              <a:t>, R. A. Younis, and A. I. Omar, "Temperature prediction for electric vehicles of permanent magnet synchronous motor using robust machine learning tools," Journal of Ambient Intelligence and Humanized Computing, vol. 15, pp. 243-260, May 2022.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 W. Kirchgässner, O. Wallscheid, and J. Böcker, "Thermal neural networks: Lumped-parameter thermal modeling with state-space machine learning," Engineering Applications of Artificial Intelligence, vol. 117, p. 105537, 2023.</a:t>
            </a:r>
            <a:endParaRPr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EFF0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41"/>
          <p:cNvGrpSpPr/>
          <p:nvPr/>
        </p:nvGrpSpPr>
        <p:grpSpPr>
          <a:xfrm rot="10800000">
            <a:off x="-14771182" y="-8030135"/>
            <a:ext cx="25581673" cy="26174213"/>
            <a:chOff x="0" y="0"/>
            <a:chExt cx="34108898" cy="34898951"/>
          </a:xfrm>
        </p:grpSpPr>
        <p:sp>
          <p:nvSpPr>
            <p:cNvPr id="505" name="Google Shape;505;p41"/>
            <p:cNvSpPr/>
            <p:nvPr/>
          </p:nvSpPr>
          <p:spPr>
            <a:xfrm>
              <a:off x="2153886" y="0"/>
              <a:ext cx="31955012" cy="34898951"/>
            </a:xfrm>
            <a:prstGeom prst="rect">
              <a:avLst/>
            </a:pr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0" y="96235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E4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0" y="13000533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0" y="4397668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E4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0" y="17301966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0" y="25904831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E4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0" y="8699101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0" y="21603399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C6C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0" y="30206264"/>
              <a:ext cx="4307772" cy="4307772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E4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4" name="Google Shape;514;p41"/>
          <p:cNvSpPr/>
          <p:nvPr/>
        </p:nvSpPr>
        <p:spPr>
          <a:xfrm flipH="1">
            <a:off x="11745228" y="1028700"/>
            <a:ext cx="5318379" cy="8229600"/>
          </a:xfrm>
          <a:custGeom>
            <a:rect b="b" l="l" r="r" t="t"/>
            <a:pathLst>
              <a:path extrusionOk="0" h="8229600" w="5318379">
                <a:moveTo>
                  <a:pt x="5318379" y="0"/>
                </a:moveTo>
                <a:lnTo>
                  <a:pt x="0" y="0"/>
                </a:lnTo>
                <a:lnTo>
                  <a:pt x="0" y="8229600"/>
                </a:lnTo>
                <a:lnTo>
                  <a:pt x="5318379" y="8229600"/>
                </a:lnTo>
                <a:lnTo>
                  <a:pt x="531837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5" name="Google Shape;515;p41"/>
          <p:cNvSpPr txBox="1"/>
          <p:nvPr/>
        </p:nvSpPr>
        <p:spPr>
          <a:xfrm>
            <a:off x="1375075" y="5852550"/>
            <a:ext cx="66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have a “cool” day!</a:t>
            </a:r>
            <a:endParaRPr sz="4200"/>
          </a:p>
        </p:txBody>
      </p:sp>
      <p:sp>
        <p:nvSpPr>
          <p:cNvPr id="516" name="Google Shape;516;p41"/>
          <p:cNvSpPr txBox="1"/>
          <p:nvPr/>
        </p:nvSpPr>
        <p:spPr>
          <a:xfrm>
            <a:off x="1375065" y="2619514"/>
            <a:ext cx="100668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84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THANK</a:t>
            </a:r>
            <a:r>
              <a:rPr b="1" lang="en-US" sz="1088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